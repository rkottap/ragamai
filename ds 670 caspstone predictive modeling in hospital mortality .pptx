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sldIdLst>
    <p:sldId id="256" r:id="rId2"/>
    <p:sldId id="257" r:id="rId3"/>
    <p:sldId id="258" r:id="rId4"/>
    <p:sldId id="264" r:id="rId5"/>
    <p:sldId id="259" r:id="rId6"/>
    <p:sldId id="262" r:id="rId7"/>
    <p:sldId id="274" r:id="rId8"/>
    <p:sldId id="263" r:id="rId9"/>
    <p:sldId id="266" r:id="rId10"/>
    <p:sldId id="265" r:id="rId11"/>
    <p:sldId id="267" r:id="rId12"/>
    <p:sldId id="268" r:id="rId13"/>
    <p:sldId id="269" r:id="rId14"/>
    <p:sldId id="270" r:id="rId15"/>
    <p:sldId id="271" r:id="rId16"/>
    <p:sldId id="272" r:id="rId17"/>
    <p:sldId id="273" r:id="rId18"/>
    <p:sldId id="261" r:id="rId19"/>
    <p:sldId id="26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40"/>
  </p:normalViewPr>
  <p:slideViewPr>
    <p:cSldViewPr snapToGrid="0">
      <p:cViewPr varScale="1">
        <p:scale>
          <a:sx n="87" d="100"/>
          <a:sy n="87" d="100"/>
        </p:scale>
        <p:origin x="10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5BF479-AF0B-4C2A-9BAF-E4F760289CEE}"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8FE64A9C-1915-4116-A331-7CCC5B4BA5D3}">
      <dgm:prSet/>
      <dgm:spPr/>
      <dgm:t>
        <a:bodyPr/>
        <a:lstStyle/>
        <a:p>
          <a:pPr>
            <a:lnSpc>
              <a:spcPct val="100000"/>
            </a:lnSpc>
          </a:pPr>
          <a:r>
            <a:rPr lang="en-IN" dirty="0"/>
            <a:t>Started by loading the dataset and checking for any missing values using .info()</a:t>
          </a:r>
          <a:endParaRPr lang="en-US" dirty="0"/>
        </a:p>
      </dgm:t>
    </dgm:pt>
    <dgm:pt modelId="{411BD0A4-7D0A-4D90-9EC3-14FEE0ED2777}" type="parTrans" cxnId="{5DE4779C-270B-4D17-960F-FB9B10CB76C1}">
      <dgm:prSet/>
      <dgm:spPr/>
      <dgm:t>
        <a:bodyPr/>
        <a:lstStyle/>
        <a:p>
          <a:endParaRPr lang="en-US"/>
        </a:p>
      </dgm:t>
    </dgm:pt>
    <dgm:pt modelId="{0AE03BE2-9EF6-4E34-910E-7B84DCC2C565}" type="sibTrans" cxnId="{5DE4779C-270B-4D17-960F-FB9B10CB76C1}">
      <dgm:prSet/>
      <dgm:spPr/>
      <dgm:t>
        <a:bodyPr/>
        <a:lstStyle/>
        <a:p>
          <a:endParaRPr lang="en-US"/>
        </a:p>
      </dgm:t>
    </dgm:pt>
    <dgm:pt modelId="{4DC9AE02-9F08-436D-B53E-A4601A16426C}">
      <dgm:prSet/>
      <dgm:spPr/>
      <dgm:t>
        <a:bodyPr/>
        <a:lstStyle/>
        <a:p>
          <a:pPr>
            <a:lnSpc>
              <a:spcPct val="100000"/>
            </a:lnSpc>
          </a:pPr>
          <a:r>
            <a:rPr lang="en-IN"/>
            <a:t>Used .describe() to explore basic stats and spot any inconsistencies or unusual values</a:t>
          </a:r>
          <a:endParaRPr lang="en-US"/>
        </a:p>
      </dgm:t>
    </dgm:pt>
    <dgm:pt modelId="{0F7F36A1-3C52-41F1-A95C-2A96E181FEBC}" type="parTrans" cxnId="{20286F66-E911-4BC1-8E98-0FC0228E7041}">
      <dgm:prSet/>
      <dgm:spPr/>
      <dgm:t>
        <a:bodyPr/>
        <a:lstStyle/>
        <a:p>
          <a:endParaRPr lang="en-US"/>
        </a:p>
      </dgm:t>
    </dgm:pt>
    <dgm:pt modelId="{BC54BF2E-3D98-4FC5-AD55-0DF4E3D691BB}" type="sibTrans" cxnId="{20286F66-E911-4BC1-8E98-0FC0228E7041}">
      <dgm:prSet/>
      <dgm:spPr/>
      <dgm:t>
        <a:bodyPr/>
        <a:lstStyle/>
        <a:p>
          <a:endParaRPr lang="en-US"/>
        </a:p>
      </dgm:t>
    </dgm:pt>
    <dgm:pt modelId="{F7644CEB-2635-4B3D-B18F-06F23076C54A}">
      <dgm:prSet/>
      <dgm:spPr/>
      <dgm:t>
        <a:bodyPr/>
        <a:lstStyle/>
        <a:p>
          <a:pPr>
            <a:lnSpc>
              <a:spcPct val="100000"/>
            </a:lnSpc>
          </a:pPr>
          <a:r>
            <a:rPr lang="en-IN"/>
            <a:t>Analyzed how hospital mortality ratings were distributed</a:t>
          </a:r>
          <a:endParaRPr lang="en-US"/>
        </a:p>
      </dgm:t>
    </dgm:pt>
    <dgm:pt modelId="{680ED917-05CF-4AD2-B7A4-B6BBC59BA24E}" type="parTrans" cxnId="{46F3D63D-C18E-4E87-8595-389D92ECD01B}">
      <dgm:prSet/>
      <dgm:spPr/>
      <dgm:t>
        <a:bodyPr/>
        <a:lstStyle/>
        <a:p>
          <a:endParaRPr lang="en-US"/>
        </a:p>
      </dgm:t>
    </dgm:pt>
    <dgm:pt modelId="{F96E0C5D-55CD-4F18-975E-CA7DC7D04264}" type="sibTrans" cxnId="{46F3D63D-C18E-4E87-8595-389D92ECD01B}">
      <dgm:prSet/>
      <dgm:spPr/>
      <dgm:t>
        <a:bodyPr/>
        <a:lstStyle/>
        <a:p>
          <a:endParaRPr lang="en-US"/>
        </a:p>
      </dgm:t>
    </dgm:pt>
    <dgm:pt modelId="{6E650625-0D91-4AAD-9624-A4CD596EC326}">
      <dgm:prSet/>
      <dgm:spPr/>
      <dgm:t>
        <a:bodyPr/>
        <a:lstStyle/>
        <a:p>
          <a:pPr>
            <a:lnSpc>
              <a:spcPct val="100000"/>
            </a:lnSpc>
          </a:pPr>
          <a:r>
            <a:rPr lang="en-IN" dirty="0"/>
            <a:t>Found that most hospitals were rated </a:t>
          </a:r>
          <a:r>
            <a:rPr lang="en-IN" b="1" dirty="0"/>
            <a:t>"As Expected"</a:t>
          </a:r>
          <a:endParaRPr lang="en-US" dirty="0"/>
        </a:p>
      </dgm:t>
    </dgm:pt>
    <dgm:pt modelId="{FC82345D-3CC2-4890-80A9-FDF9EE25D916}" type="parTrans" cxnId="{036B8ECD-370F-43A7-AE0D-B06102F95508}">
      <dgm:prSet/>
      <dgm:spPr/>
      <dgm:t>
        <a:bodyPr/>
        <a:lstStyle/>
        <a:p>
          <a:endParaRPr lang="en-US"/>
        </a:p>
      </dgm:t>
    </dgm:pt>
    <dgm:pt modelId="{F0D692B9-0837-4DD5-941F-7C57A32E7219}" type="sibTrans" cxnId="{036B8ECD-370F-43A7-AE0D-B06102F95508}">
      <dgm:prSet/>
      <dgm:spPr/>
      <dgm:t>
        <a:bodyPr/>
        <a:lstStyle/>
        <a:p>
          <a:endParaRPr lang="en-US"/>
        </a:p>
      </dgm:t>
    </dgm:pt>
    <dgm:pt modelId="{D8D09587-510E-4D22-8096-85B5EA59DE10}">
      <dgm:prSet/>
      <dgm:spPr/>
      <dgm:t>
        <a:bodyPr/>
        <a:lstStyle/>
        <a:p>
          <a:pPr>
            <a:lnSpc>
              <a:spcPct val="100000"/>
            </a:lnSpc>
          </a:pPr>
          <a:r>
            <a:rPr lang="en-IN"/>
            <a:t>Created bar charts and histograms to visualize mortality trends and detect any skewness or outliers</a:t>
          </a:r>
          <a:endParaRPr lang="en-US"/>
        </a:p>
      </dgm:t>
    </dgm:pt>
    <dgm:pt modelId="{D91E57C4-2F14-4F75-B55D-86811AC656CB}" type="parTrans" cxnId="{FB6C30BC-020C-4D00-BBD9-C8D33D9EF6D6}">
      <dgm:prSet/>
      <dgm:spPr/>
      <dgm:t>
        <a:bodyPr/>
        <a:lstStyle/>
        <a:p>
          <a:endParaRPr lang="en-US"/>
        </a:p>
      </dgm:t>
    </dgm:pt>
    <dgm:pt modelId="{04A9FF07-3646-4109-84D5-220040D58A35}" type="sibTrans" cxnId="{FB6C30BC-020C-4D00-BBD9-C8D33D9EF6D6}">
      <dgm:prSet/>
      <dgm:spPr/>
      <dgm:t>
        <a:bodyPr/>
        <a:lstStyle/>
        <a:p>
          <a:endParaRPr lang="en-US"/>
        </a:p>
      </dgm:t>
    </dgm:pt>
    <dgm:pt modelId="{20EB3B03-08EF-428B-A285-91EEFC7A5CC1}">
      <dgm:prSet/>
      <dgm:spPr/>
      <dgm:t>
        <a:bodyPr/>
        <a:lstStyle/>
        <a:p>
          <a:pPr>
            <a:lnSpc>
              <a:spcPct val="100000"/>
            </a:lnSpc>
          </a:pPr>
          <a:r>
            <a:rPr lang="en-IN"/>
            <a:t>Noticed a class imbalance in the target variable, which could impact model accuracy</a:t>
          </a:r>
          <a:endParaRPr lang="en-US"/>
        </a:p>
      </dgm:t>
    </dgm:pt>
    <dgm:pt modelId="{688CF7FC-0FEB-4D62-936E-A3D3EF427940}" type="parTrans" cxnId="{1439FB0A-709F-4FB6-9CD9-2E470F5CD7C2}">
      <dgm:prSet/>
      <dgm:spPr/>
      <dgm:t>
        <a:bodyPr/>
        <a:lstStyle/>
        <a:p>
          <a:endParaRPr lang="en-US"/>
        </a:p>
      </dgm:t>
    </dgm:pt>
    <dgm:pt modelId="{567B7BA4-FA91-4795-8DA1-E99F32F768EF}" type="sibTrans" cxnId="{1439FB0A-709F-4FB6-9CD9-2E470F5CD7C2}">
      <dgm:prSet/>
      <dgm:spPr/>
      <dgm:t>
        <a:bodyPr/>
        <a:lstStyle/>
        <a:p>
          <a:endParaRPr lang="en-US"/>
        </a:p>
      </dgm:t>
    </dgm:pt>
    <dgm:pt modelId="{036B128F-6330-4C5A-9252-1C5251996632}" type="pres">
      <dgm:prSet presAssocID="{245BF479-AF0B-4C2A-9BAF-E4F760289CEE}" presName="root" presStyleCnt="0">
        <dgm:presLayoutVars>
          <dgm:dir/>
          <dgm:resizeHandles val="exact"/>
        </dgm:presLayoutVars>
      </dgm:prSet>
      <dgm:spPr/>
    </dgm:pt>
    <dgm:pt modelId="{2CE47EF1-ED0C-4E1A-84AC-076546424BDA}" type="pres">
      <dgm:prSet presAssocID="{8FE64A9C-1915-4116-A331-7CCC5B4BA5D3}" presName="compNode" presStyleCnt="0"/>
      <dgm:spPr/>
    </dgm:pt>
    <dgm:pt modelId="{C6FD9FE4-005D-4E7C-AC18-940CE5D02C23}" type="pres">
      <dgm:prSet presAssocID="{8FE64A9C-1915-4116-A331-7CCC5B4BA5D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orkflow"/>
        </a:ext>
      </dgm:extLst>
    </dgm:pt>
    <dgm:pt modelId="{2963DE2A-20B9-4B3D-8C80-7D0989ACD3BB}" type="pres">
      <dgm:prSet presAssocID="{8FE64A9C-1915-4116-A331-7CCC5B4BA5D3}" presName="spaceRect" presStyleCnt="0"/>
      <dgm:spPr/>
    </dgm:pt>
    <dgm:pt modelId="{35C91EA3-32C2-46A5-B71A-24F2AC5DCC07}" type="pres">
      <dgm:prSet presAssocID="{8FE64A9C-1915-4116-A331-7CCC5B4BA5D3}" presName="textRect" presStyleLbl="revTx" presStyleIdx="0" presStyleCnt="6">
        <dgm:presLayoutVars>
          <dgm:chMax val="1"/>
          <dgm:chPref val="1"/>
        </dgm:presLayoutVars>
      </dgm:prSet>
      <dgm:spPr/>
    </dgm:pt>
    <dgm:pt modelId="{B672C51B-C5F4-4EE0-B4E5-C73D0EDCEB04}" type="pres">
      <dgm:prSet presAssocID="{0AE03BE2-9EF6-4E34-910E-7B84DCC2C565}" presName="sibTrans" presStyleCnt="0"/>
      <dgm:spPr/>
    </dgm:pt>
    <dgm:pt modelId="{D8F7C989-3E17-42E3-9A13-B330B4066EA6}" type="pres">
      <dgm:prSet presAssocID="{4DC9AE02-9F08-436D-B53E-A4601A16426C}" presName="compNode" presStyleCnt="0"/>
      <dgm:spPr/>
    </dgm:pt>
    <dgm:pt modelId="{3E1DF512-FB13-45BC-A647-0099CE2B6F83}" type="pres">
      <dgm:prSet presAssocID="{4DC9AE02-9F08-436D-B53E-A4601A16426C}"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licopter"/>
        </a:ext>
      </dgm:extLst>
    </dgm:pt>
    <dgm:pt modelId="{DB583A1B-14BD-423E-8AF4-353DF533760E}" type="pres">
      <dgm:prSet presAssocID="{4DC9AE02-9F08-436D-B53E-A4601A16426C}" presName="spaceRect" presStyleCnt="0"/>
      <dgm:spPr/>
    </dgm:pt>
    <dgm:pt modelId="{26F41854-1268-453D-A5B6-85B0BDC9DA58}" type="pres">
      <dgm:prSet presAssocID="{4DC9AE02-9F08-436D-B53E-A4601A16426C}" presName="textRect" presStyleLbl="revTx" presStyleIdx="1" presStyleCnt="6">
        <dgm:presLayoutVars>
          <dgm:chMax val="1"/>
          <dgm:chPref val="1"/>
        </dgm:presLayoutVars>
      </dgm:prSet>
      <dgm:spPr/>
    </dgm:pt>
    <dgm:pt modelId="{7F4092F4-960D-44CD-BA23-428CE8EE40E2}" type="pres">
      <dgm:prSet presAssocID="{BC54BF2E-3D98-4FC5-AD55-0DF4E3D691BB}" presName="sibTrans" presStyleCnt="0"/>
      <dgm:spPr/>
    </dgm:pt>
    <dgm:pt modelId="{BA2D572C-F7A9-40DE-9745-C856DEE1D105}" type="pres">
      <dgm:prSet presAssocID="{F7644CEB-2635-4B3D-B18F-06F23076C54A}" presName="compNode" presStyleCnt="0"/>
      <dgm:spPr/>
    </dgm:pt>
    <dgm:pt modelId="{E10DF737-FFD8-487B-888E-8052216AC791}" type="pres">
      <dgm:prSet presAssocID="{F7644CEB-2635-4B3D-B18F-06F23076C54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edical"/>
        </a:ext>
      </dgm:extLst>
    </dgm:pt>
    <dgm:pt modelId="{130B4064-FCE5-4266-A4E5-5269E618BCD5}" type="pres">
      <dgm:prSet presAssocID="{F7644CEB-2635-4B3D-B18F-06F23076C54A}" presName="spaceRect" presStyleCnt="0"/>
      <dgm:spPr/>
    </dgm:pt>
    <dgm:pt modelId="{F50F8305-8E89-47CE-A2C5-D3A87C19233E}" type="pres">
      <dgm:prSet presAssocID="{F7644CEB-2635-4B3D-B18F-06F23076C54A}" presName="textRect" presStyleLbl="revTx" presStyleIdx="2" presStyleCnt="6">
        <dgm:presLayoutVars>
          <dgm:chMax val="1"/>
          <dgm:chPref val="1"/>
        </dgm:presLayoutVars>
      </dgm:prSet>
      <dgm:spPr/>
    </dgm:pt>
    <dgm:pt modelId="{7032062D-D9AC-441C-A86E-3C0E8588AFA5}" type="pres">
      <dgm:prSet presAssocID="{F96E0C5D-55CD-4F18-975E-CA7DC7D04264}" presName="sibTrans" presStyleCnt="0"/>
      <dgm:spPr/>
    </dgm:pt>
    <dgm:pt modelId="{79FC8729-AC7B-4937-BFC0-815021D1B90E}" type="pres">
      <dgm:prSet presAssocID="{6E650625-0D91-4AAD-9624-A4CD596EC326}" presName="compNode" presStyleCnt="0"/>
      <dgm:spPr/>
    </dgm:pt>
    <dgm:pt modelId="{7B9BC8E1-C051-4924-B6C5-DD4ABBAB5EB2}" type="pres">
      <dgm:prSet presAssocID="{6E650625-0D91-4AAD-9624-A4CD596EC32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octor"/>
        </a:ext>
      </dgm:extLst>
    </dgm:pt>
    <dgm:pt modelId="{CC014E17-E0DB-42C2-9584-9EBA7EE5F06B}" type="pres">
      <dgm:prSet presAssocID="{6E650625-0D91-4AAD-9624-A4CD596EC326}" presName="spaceRect" presStyleCnt="0"/>
      <dgm:spPr/>
    </dgm:pt>
    <dgm:pt modelId="{1DDB4E3C-CE6F-475B-9F08-C080DEE4A326}" type="pres">
      <dgm:prSet presAssocID="{6E650625-0D91-4AAD-9624-A4CD596EC326}" presName="textRect" presStyleLbl="revTx" presStyleIdx="3" presStyleCnt="6">
        <dgm:presLayoutVars>
          <dgm:chMax val="1"/>
          <dgm:chPref val="1"/>
        </dgm:presLayoutVars>
      </dgm:prSet>
      <dgm:spPr/>
    </dgm:pt>
    <dgm:pt modelId="{6A43DAF0-06F5-4DE0-8286-2CECE72ED70B}" type="pres">
      <dgm:prSet presAssocID="{F0D692B9-0837-4DD5-941F-7C57A32E7219}" presName="sibTrans" presStyleCnt="0"/>
      <dgm:spPr/>
    </dgm:pt>
    <dgm:pt modelId="{B07D208F-9E9B-4729-9E0A-D61738FD38D1}" type="pres">
      <dgm:prSet presAssocID="{D8D09587-510E-4D22-8096-85B5EA59DE10}" presName="compNode" presStyleCnt="0"/>
      <dgm:spPr/>
    </dgm:pt>
    <dgm:pt modelId="{C4F0FF58-0944-42F3-B3AA-11E4C783A192}" type="pres">
      <dgm:prSet presAssocID="{D8D09587-510E-4D22-8096-85B5EA59DE10}"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tatistics"/>
        </a:ext>
      </dgm:extLst>
    </dgm:pt>
    <dgm:pt modelId="{37359CE2-F1F2-4944-B075-7FEAEE2EE2DB}" type="pres">
      <dgm:prSet presAssocID="{D8D09587-510E-4D22-8096-85B5EA59DE10}" presName="spaceRect" presStyleCnt="0"/>
      <dgm:spPr/>
    </dgm:pt>
    <dgm:pt modelId="{4E91D8F7-E42A-4B6D-AC76-7F76291EF349}" type="pres">
      <dgm:prSet presAssocID="{D8D09587-510E-4D22-8096-85B5EA59DE10}" presName="textRect" presStyleLbl="revTx" presStyleIdx="4" presStyleCnt="6">
        <dgm:presLayoutVars>
          <dgm:chMax val="1"/>
          <dgm:chPref val="1"/>
        </dgm:presLayoutVars>
      </dgm:prSet>
      <dgm:spPr/>
    </dgm:pt>
    <dgm:pt modelId="{9E18A3F5-094E-475A-9095-74816F7312FD}" type="pres">
      <dgm:prSet presAssocID="{04A9FF07-3646-4109-84D5-220040D58A35}" presName="sibTrans" presStyleCnt="0"/>
      <dgm:spPr/>
    </dgm:pt>
    <dgm:pt modelId="{604B5731-A98C-4A57-A089-C4BA8C793546}" type="pres">
      <dgm:prSet presAssocID="{20EB3B03-08EF-428B-A285-91EEFC7A5CC1}" presName="compNode" presStyleCnt="0"/>
      <dgm:spPr/>
    </dgm:pt>
    <dgm:pt modelId="{85065E16-79A4-4E0A-97CC-C86729ACCFA1}" type="pres">
      <dgm:prSet presAssocID="{20EB3B03-08EF-428B-A285-91EEFC7A5CC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Bullseye"/>
        </a:ext>
      </dgm:extLst>
    </dgm:pt>
    <dgm:pt modelId="{E9AC436F-FFFB-4BE2-BC71-3826BCBF55C5}" type="pres">
      <dgm:prSet presAssocID="{20EB3B03-08EF-428B-A285-91EEFC7A5CC1}" presName="spaceRect" presStyleCnt="0"/>
      <dgm:spPr/>
    </dgm:pt>
    <dgm:pt modelId="{D5D2A33D-4526-4B6E-B4A3-F2070AE40319}" type="pres">
      <dgm:prSet presAssocID="{20EB3B03-08EF-428B-A285-91EEFC7A5CC1}" presName="textRect" presStyleLbl="revTx" presStyleIdx="5" presStyleCnt="6">
        <dgm:presLayoutVars>
          <dgm:chMax val="1"/>
          <dgm:chPref val="1"/>
        </dgm:presLayoutVars>
      </dgm:prSet>
      <dgm:spPr/>
    </dgm:pt>
  </dgm:ptLst>
  <dgm:cxnLst>
    <dgm:cxn modelId="{1C74B302-196E-1243-909B-1DEE4BD79C7C}" type="presOf" srcId="{245BF479-AF0B-4C2A-9BAF-E4F760289CEE}" destId="{036B128F-6330-4C5A-9252-1C5251996632}" srcOrd="0" destOrd="0" presId="urn:microsoft.com/office/officeart/2018/2/layout/IconLabelList"/>
    <dgm:cxn modelId="{1439FB0A-709F-4FB6-9CD9-2E470F5CD7C2}" srcId="{245BF479-AF0B-4C2A-9BAF-E4F760289CEE}" destId="{20EB3B03-08EF-428B-A285-91EEFC7A5CC1}" srcOrd="5" destOrd="0" parTransId="{688CF7FC-0FEB-4D62-936E-A3D3EF427940}" sibTransId="{567B7BA4-FA91-4795-8DA1-E99F32F768EF}"/>
    <dgm:cxn modelId="{46F3D63D-C18E-4E87-8595-389D92ECD01B}" srcId="{245BF479-AF0B-4C2A-9BAF-E4F760289CEE}" destId="{F7644CEB-2635-4B3D-B18F-06F23076C54A}" srcOrd="2" destOrd="0" parTransId="{680ED917-05CF-4AD2-B7A4-B6BBC59BA24E}" sibTransId="{F96E0C5D-55CD-4F18-975E-CA7DC7D04264}"/>
    <dgm:cxn modelId="{C5093366-1EB3-8248-B36B-BC62B861E472}" type="presOf" srcId="{8FE64A9C-1915-4116-A331-7CCC5B4BA5D3}" destId="{35C91EA3-32C2-46A5-B71A-24F2AC5DCC07}" srcOrd="0" destOrd="0" presId="urn:microsoft.com/office/officeart/2018/2/layout/IconLabelList"/>
    <dgm:cxn modelId="{20286F66-E911-4BC1-8E98-0FC0228E7041}" srcId="{245BF479-AF0B-4C2A-9BAF-E4F760289CEE}" destId="{4DC9AE02-9F08-436D-B53E-A4601A16426C}" srcOrd="1" destOrd="0" parTransId="{0F7F36A1-3C52-41F1-A95C-2A96E181FEBC}" sibTransId="{BC54BF2E-3D98-4FC5-AD55-0DF4E3D691BB}"/>
    <dgm:cxn modelId="{5DE4779C-270B-4D17-960F-FB9B10CB76C1}" srcId="{245BF479-AF0B-4C2A-9BAF-E4F760289CEE}" destId="{8FE64A9C-1915-4116-A331-7CCC5B4BA5D3}" srcOrd="0" destOrd="0" parTransId="{411BD0A4-7D0A-4D90-9EC3-14FEE0ED2777}" sibTransId="{0AE03BE2-9EF6-4E34-910E-7B84DCC2C565}"/>
    <dgm:cxn modelId="{A0DFDCAB-3A47-E840-90D8-966DCC6AFC01}" type="presOf" srcId="{D8D09587-510E-4D22-8096-85B5EA59DE10}" destId="{4E91D8F7-E42A-4B6D-AC76-7F76291EF349}" srcOrd="0" destOrd="0" presId="urn:microsoft.com/office/officeart/2018/2/layout/IconLabelList"/>
    <dgm:cxn modelId="{857D59B5-3E67-5A40-A75D-4B921836CC47}" type="presOf" srcId="{20EB3B03-08EF-428B-A285-91EEFC7A5CC1}" destId="{D5D2A33D-4526-4B6E-B4A3-F2070AE40319}" srcOrd="0" destOrd="0" presId="urn:microsoft.com/office/officeart/2018/2/layout/IconLabelList"/>
    <dgm:cxn modelId="{FB6C30BC-020C-4D00-BBD9-C8D33D9EF6D6}" srcId="{245BF479-AF0B-4C2A-9BAF-E4F760289CEE}" destId="{D8D09587-510E-4D22-8096-85B5EA59DE10}" srcOrd="4" destOrd="0" parTransId="{D91E57C4-2F14-4F75-B55D-86811AC656CB}" sibTransId="{04A9FF07-3646-4109-84D5-220040D58A35}"/>
    <dgm:cxn modelId="{107924C5-B166-DE44-96B4-0DBDE28962C5}" type="presOf" srcId="{4DC9AE02-9F08-436D-B53E-A4601A16426C}" destId="{26F41854-1268-453D-A5B6-85B0BDC9DA58}" srcOrd="0" destOrd="0" presId="urn:microsoft.com/office/officeart/2018/2/layout/IconLabelList"/>
    <dgm:cxn modelId="{036B8ECD-370F-43A7-AE0D-B06102F95508}" srcId="{245BF479-AF0B-4C2A-9BAF-E4F760289CEE}" destId="{6E650625-0D91-4AAD-9624-A4CD596EC326}" srcOrd="3" destOrd="0" parTransId="{FC82345D-3CC2-4890-80A9-FDF9EE25D916}" sibTransId="{F0D692B9-0837-4DD5-941F-7C57A32E7219}"/>
    <dgm:cxn modelId="{31E078F6-5915-8547-A645-8CE627BB1C03}" type="presOf" srcId="{6E650625-0D91-4AAD-9624-A4CD596EC326}" destId="{1DDB4E3C-CE6F-475B-9F08-C080DEE4A326}" srcOrd="0" destOrd="0" presId="urn:microsoft.com/office/officeart/2018/2/layout/IconLabelList"/>
    <dgm:cxn modelId="{F90C4EFB-D5A1-DD45-A88D-8FD78D9331E2}" type="presOf" srcId="{F7644CEB-2635-4B3D-B18F-06F23076C54A}" destId="{F50F8305-8E89-47CE-A2C5-D3A87C19233E}" srcOrd="0" destOrd="0" presId="urn:microsoft.com/office/officeart/2018/2/layout/IconLabelList"/>
    <dgm:cxn modelId="{81245274-ECE3-CC47-A8AC-DB357F2AC862}" type="presParOf" srcId="{036B128F-6330-4C5A-9252-1C5251996632}" destId="{2CE47EF1-ED0C-4E1A-84AC-076546424BDA}" srcOrd="0" destOrd="0" presId="urn:microsoft.com/office/officeart/2018/2/layout/IconLabelList"/>
    <dgm:cxn modelId="{6F4780A9-AF47-054F-808C-3D3EA09AE603}" type="presParOf" srcId="{2CE47EF1-ED0C-4E1A-84AC-076546424BDA}" destId="{C6FD9FE4-005D-4E7C-AC18-940CE5D02C23}" srcOrd="0" destOrd="0" presId="urn:microsoft.com/office/officeart/2018/2/layout/IconLabelList"/>
    <dgm:cxn modelId="{A027DDC6-B356-BE40-A2FC-44E0F2E183EE}" type="presParOf" srcId="{2CE47EF1-ED0C-4E1A-84AC-076546424BDA}" destId="{2963DE2A-20B9-4B3D-8C80-7D0989ACD3BB}" srcOrd="1" destOrd="0" presId="urn:microsoft.com/office/officeart/2018/2/layout/IconLabelList"/>
    <dgm:cxn modelId="{DEDB3F07-E657-7D4F-9C39-2E93FBEB87A2}" type="presParOf" srcId="{2CE47EF1-ED0C-4E1A-84AC-076546424BDA}" destId="{35C91EA3-32C2-46A5-B71A-24F2AC5DCC07}" srcOrd="2" destOrd="0" presId="urn:microsoft.com/office/officeart/2018/2/layout/IconLabelList"/>
    <dgm:cxn modelId="{D03B7ADB-B88D-8D40-A7B5-33EA5EAF74B8}" type="presParOf" srcId="{036B128F-6330-4C5A-9252-1C5251996632}" destId="{B672C51B-C5F4-4EE0-B4E5-C73D0EDCEB04}" srcOrd="1" destOrd="0" presId="urn:microsoft.com/office/officeart/2018/2/layout/IconLabelList"/>
    <dgm:cxn modelId="{538834E8-6208-2A4E-A3AA-3564E78D52B7}" type="presParOf" srcId="{036B128F-6330-4C5A-9252-1C5251996632}" destId="{D8F7C989-3E17-42E3-9A13-B330B4066EA6}" srcOrd="2" destOrd="0" presId="urn:microsoft.com/office/officeart/2018/2/layout/IconLabelList"/>
    <dgm:cxn modelId="{8AD55639-3C02-194D-BB20-A37B80009089}" type="presParOf" srcId="{D8F7C989-3E17-42E3-9A13-B330B4066EA6}" destId="{3E1DF512-FB13-45BC-A647-0099CE2B6F83}" srcOrd="0" destOrd="0" presId="urn:microsoft.com/office/officeart/2018/2/layout/IconLabelList"/>
    <dgm:cxn modelId="{AE303915-EB94-0348-B4E9-6101B424BEB9}" type="presParOf" srcId="{D8F7C989-3E17-42E3-9A13-B330B4066EA6}" destId="{DB583A1B-14BD-423E-8AF4-353DF533760E}" srcOrd="1" destOrd="0" presId="urn:microsoft.com/office/officeart/2018/2/layout/IconLabelList"/>
    <dgm:cxn modelId="{A69F5359-E960-F84A-A47A-95717DAF5C9B}" type="presParOf" srcId="{D8F7C989-3E17-42E3-9A13-B330B4066EA6}" destId="{26F41854-1268-453D-A5B6-85B0BDC9DA58}" srcOrd="2" destOrd="0" presId="urn:microsoft.com/office/officeart/2018/2/layout/IconLabelList"/>
    <dgm:cxn modelId="{AD39DC15-C495-C942-B41D-167854B7B434}" type="presParOf" srcId="{036B128F-6330-4C5A-9252-1C5251996632}" destId="{7F4092F4-960D-44CD-BA23-428CE8EE40E2}" srcOrd="3" destOrd="0" presId="urn:microsoft.com/office/officeart/2018/2/layout/IconLabelList"/>
    <dgm:cxn modelId="{97570A48-B09B-DC44-A784-6A2C5D7BBC46}" type="presParOf" srcId="{036B128F-6330-4C5A-9252-1C5251996632}" destId="{BA2D572C-F7A9-40DE-9745-C856DEE1D105}" srcOrd="4" destOrd="0" presId="urn:microsoft.com/office/officeart/2018/2/layout/IconLabelList"/>
    <dgm:cxn modelId="{5820F988-B403-3440-8140-7C8B11D85AC1}" type="presParOf" srcId="{BA2D572C-F7A9-40DE-9745-C856DEE1D105}" destId="{E10DF737-FFD8-487B-888E-8052216AC791}" srcOrd="0" destOrd="0" presId="urn:microsoft.com/office/officeart/2018/2/layout/IconLabelList"/>
    <dgm:cxn modelId="{166E33B4-588D-1947-90C8-FF0678ECDB2A}" type="presParOf" srcId="{BA2D572C-F7A9-40DE-9745-C856DEE1D105}" destId="{130B4064-FCE5-4266-A4E5-5269E618BCD5}" srcOrd="1" destOrd="0" presId="urn:microsoft.com/office/officeart/2018/2/layout/IconLabelList"/>
    <dgm:cxn modelId="{8239D0B0-E985-1748-9D8A-4D4F5747D80A}" type="presParOf" srcId="{BA2D572C-F7A9-40DE-9745-C856DEE1D105}" destId="{F50F8305-8E89-47CE-A2C5-D3A87C19233E}" srcOrd="2" destOrd="0" presId="urn:microsoft.com/office/officeart/2018/2/layout/IconLabelList"/>
    <dgm:cxn modelId="{AD1CCC8C-C0F1-1E4A-8EFD-2C0E441D662F}" type="presParOf" srcId="{036B128F-6330-4C5A-9252-1C5251996632}" destId="{7032062D-D9AC-441C-A86E-3C0E8588AFA5}" srcOrd="5" destOrd="0" presId="urn:microsoft.com/office/officeart/2018/2/layout/IconLabelList"/>
    <dgm:cxn modelId="{FE06634E-072E-FE47-BD3F-BCFCB7EE1334}" type="presParOf" srcId="{036B128F-6330-4C5A-9252-1C5251996632}" destId="{79FC8729-AC7B-4937-BFC0-815021D1B90E}" srcOrd="6" destOrd="0" presId="urn:microsoft.com/office/officeart/2018/2/layout/IconLabelList"/>
    <dgm:cxn modelId="{5CB95DA3-E120-5445-B210-EE0A00CA5B6F}" type="presParOf" srcId="{79FC8729-AC7B-4937-BFC0-815021D1B90E}" destId="{7B9BC8E1-C051-4924-B6C5-DD4ABBAB5EB2}" srcOrd="0" destOrd="0" presId="urn:microsoft.com/office/officeart/2018/2/layout/IconLabelList"/>
    <dgm:cxn modelId="{C6C44402-E043-934C-8247-28CE86BEC3A2}" type="presParOf" srcId="{79FC8729-AC7B-4937-BFC0-815021D1B90E}" destId="{CC014E17-E0DB-42C2-9584-9EBA7EE5F06B}" srcOrd="1" destOrd="0" presId="urn:microsoft.com/office/officeart/2018/2/layout/IconLabelList"/>
    <dgm:cxn modelId="{5BAD80BA-AFCF-1145-908F-9A09C4DC50E6}" type="presParOf" srcId="{79FC8729-AC7B-4937-BFC0-815021D1B90E}" destId="{1DDB4E3C-CE6F-475B-9F08-C080DEE4A326}" srcOrd="2" destOrd="0" presId="urn:microsoft.com/office/officeart/2018/2/layout/IconLabelList"/>
    <dgm:cxn modelId="{930A1E7A-7308-DA45-8A4D-D4BD2DD673E0}" type="presParOf" srcId="{036B128F-6330-4C5A-9252-1C5251996632}" destId="{6A43DAF0-06F5-4DE0-8286-2CECE72ED70B}" srcOrd="7" destOrd="0" presId="urn:microsoft.com/office/officeart/2018/2/layout/IconLabelList"/>
    <dgm:cxn modelId="{F36C4C99-EFA3-3E49-AE23-02746EEB1BF6}" type="presParOf" srcId="{036B128F-6330-4C5A-9252-1C5251996632}" destId="{B07D208F-9E9B-4729-9E0A-D61738FD38D1}" srcOrd="8" destOrd="0" presId="urn:microsoft.com/office/officeart/2018/2/layout/IconLabelList"/>
    <dgm:cxn modelId="{11C649D9-89F3-F440-A521-56749390E1DC}" type="presParOf" srcId="{B07D208F-9E9B-4729-9E0A-D61738FD38D1}" destId="{C4F0FF58-0944-42F3-B3AA-11E4C783A192}" srcOrd="0" destOrd="0" presId="urn:microsoft.com/office/officeart/2018/2/layout/IconLabelList"/>
    <dgm:cxn modelId="{5FAA44E1-EBCC-0841-9246-243BE195AE4B}" type="presParOf" srcId="{B07D208F-9E9B-4729-9E0A-D61738FD38D1}" destId="{37359CE2-F1F2-4944-B075-7FEAEE2EE2DB}" srcOrd="1" destOrd="0" presId="urn:microsoft.com/office/officeart/2018/2/layout/IconLabelList"/>
    <dgm:cxn modelId="{6923EAD0-24FC-364C-B6A8-17C22D096127}" type="presParOf" srcId="{B07D208F-9E9B-4729-9E0A-D61738FD38D1}" destId="{4E91D8F7-E42A-4B6D-AC76-7F76291EF349}" srcOrd="2" destOrd="0" presId="urn:microsoft.com/office/officeart/2018/2/layout/IconLabelList"/>
    <dgm:cxn modelId="{360C490A-0612-6645-8196-3C2843E571A7}" type="presParOf" srcId="{036B128F-6330-4C5A-9252-1C5251996632}" destId="{9E18A3F5-094E-475A-9095-74816F7312FD}" srcOrd="9" destOrd="0" presId="urn:microsoft.com/office/officeart/2018/2/layout/IconLabelList"/>
    <dgm:cxn modelId="{A8A6FE85-187E-464B-B750-52BA5AE2F3FB}" type="presParOf" srcId="{036B128F-6330-4C5A-9252-1C5251996632}" destId="{604B5731-A98C-4A57-A089-C4BA8C793546}" srcOrd="10" destOrd="0" presId="urn:microsoft.com/office/officeart/2018/2/layout/IconLabelList"/>
    <dgm:cxn modelId="{39732C6B-23E1-EB44-99F2-237C79EEF191}" type="presParOf" srcId="{604B5731-A98C-4A57-A089-C4BA8C793546}" destId="{85065E16-79A4-4E0A-97CC-C86729ACCFA1}" srcOrd="0" destOrd="0" presId="urn:microsoft.com/office/officeart/2018/2/layout/IconLabelList"/>
    <dgm:cxn modelId="{F95A3A2F-7682-A54A-9E0F-872E0B2700BF}" type="presParOf" srcId="{604B5731-A98C-4A57-A089-C4BA8C793546}" destId="{E9AC436F-FFFB-4BE2-BC71-3826BCBF55C5}" srcOrd="1" destOrd="0" presId="urn:microsoft.com/office/officeart/2018/2/layout/IconLabelList"/>
    <dgm:cxn modelId="{015AA2EF-E59B-1147-92BF-D670A9F04B3F}" type="presParOf" srcId="{604B5731-A98C-4A57-A089-C4BA8C793546}" destId="{D5D2A33D-4526-4B6E-B4A3-F2070AE40319}"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0A9BAD-EE0F-4AE5-BFCA-5F1626D1AF20}" type="doc">
      <dgm:prSet loTypeId="urn:microsoft.com/office/officeart/2005/8/layout/matrix3" loCatId="matrix" qsTypeId="urn:microsoft.com/office/officeart/2005/8/quickstyle/simple1" qsCatId="simple" csTypeId="urn:microsoft.com/office/officeart/2005/8/colors/accent6_2" csCatId="accent6"/>
      <dgm:spPr/>
      <dgm:t>
        <a:bodyPr/>
        <a:lstStyle/>
        <a:p>
          <a:endParaRPr lang="en-US"/>
        </a:p>
      </dgm:t>
    </dgm:pt>
    <dgm:pt modelId="{77377373-3302-40BC-BDC5-B0503B0870F9}">
      <dgm:prSet/>
      <dgm:spPr/>
      <dgm:t>
        <a:bodyPr/>
        <a:lstStyle/>
        <a:p>
          <a:r>
            <a:rPr lang="en-IN"/>
            <a:t>Random Forest Classifier</a:t>
          </a:r>
          <a:endParaRPr lang="en-US"/>
        </a:p>
      </dgm:t>
    </dgm:pt>
    <dgm:pt modelId="{32B8A63D-CDF6-4F53-856B-536DE7293EAF}" type="parTrans" cxnId="{FA450DB6-B00C-4D13-B86F-1C2260C5A08B}">
      <dgm:prSet/>
      <dgm:spPr/>
      <dgm:t>
        <a:bodyPr/>
        <a:lstStyle/>
        <a:p>
          <a:endParaRPr lang="en-US"/>
        </a:p>
      </dgm:t>
    </dgm:pt>
    <dgm:pt modelId="{61004C98-98B4-4183-A775-F5AE233F6C31}" type="sibTrans" cxnId="{FA450DB6-B00C-4D13-B86F-1C2260C5A08B}">
      <dgm:prSet/>
      <dgm:spPr/>
      <dgm:t>
        <a:bodyPr/>
        <a:lstStyle/>
        <a:p>
          <a:endParaRPr lang="en-US"/>
        </a:p>
      </dgm:t>
    </dgm:pt>
    <dgm:pt modelId="{64CE839D-F3B2-453F-BAE0-117D7CAA98B9}">
      <dgm:prSet/>
      <dgm:spPr/>
      <dgm:t>
        <a:bodyPr/>
        <a:lstStyle/>
        <a:p>
          <a:r>
            <a:rPr lang="en-IN"/>
            <a:t>XGBoost Classifier</a:t>
          </a:r>
          <a:endParaRPr lang="en-US"/>
        </a:p>
      </dgm:t>
    </dgm:pt>
    <dgm:pt modelId="{918E8A90-4996-42F0-B000-43747064FD32}" type="parTrans" cxnId="{AAC27C6A-E824-4499-9A7E-4ABCDA489E50}">
      <dgm:prSet/>
      <dgm:spPr/>
      <dgm:t>
        <a:bodyPr/>
        <a:lstStyle/>
        <a:p>
          <a:endParaRPr lang="en-US"/>
        </a:p>
      </dgm:t>
    </dgm:pt>
    <dgm:pt modelId="{F30EB432-02A2-4895-A2CE-47FD6E3B4295}" type="sibTrans" cxnId="{AAC27C6A-E824-4499-9A7E-4ABCDA489E50}">
      <dgm:prSet/>
      <dgm:spPr/>
      <dgm:t>
        <a:bodyPr/>
        <a:lstStyle/>
        <a:p>
          <a:endParaRPr lang="en-US"/>
        </a:p>
      </dgm:t>
    </dgm:pt>
    <dgm:pt modelId="{87D8170C-7509-4574-80F3-EBCD833F8470}">
      <dgm:prSet/>
      <dgm:spPr/>
      <dgm:t>
        <a:bodyPr/>
        <a:lstStyle/>
        <a:p>
          <a:r>
            <a:rPr lang="en-IN"/>
            <a:t>K-Nearest Neighbors (KNN)</a:t>
          </a:r>
          <a:endParaRPr lang="en-US"/>
        </a:p>
      </dgm:t>
    </dgm:pt>
    <dgm:pt modelId="{1EEFD0CC-3CA8-4B46-B910-C9DBE748964F}" type="parTrans" cxnId="{9D9CBE1E-C4F8-400C-9F45-D97F4BAFF76D}">
      <dgm:prSet/>
      <dgm:spPr/>
      <dgm:t>
        <a:bodyPr/>
        <a:lstStyle/>
        <a:p>
          <a:endParaRPr lang="en-US"/>
        </a:p>
      </dgm:t>
    </dgm:pt>
    <dgm:pt modelId="{C67E34C5-2358-4343-84E1-BBD6F9A04414}" type="sibTrans" cxnId="{9D9CBE1E-C4F8-400C-9F45-D97F4BAFF76D}">
      <dgm:prSet/>
      <dgm:spPr/>
      <dgm:t>
        <a:bodyPr/>
        <a:lstStyle/>
        <a:p>
          <a:endParaRPr lang="en-US"/>
        </a:p>
      </dgm:t>
    </dgm:pt>
    <dgm:pt modelId="{F893D47F-BC2C-4888-A4DD-8AC45FE3D465}">
      <dgm:prSet/>
      <dgm:spPr/>
      <dgm:t>
        <a:bodyPr/>
        <a:lstStyle/>
        <a:p>
          <a:r>
            <a:rPr lang="en-IN"/>
            <a:t>Support Vector Classifier (SVM)</a:t>
          </a:r>
          <a:endParaRPr lang="en-US"/>
        </a:p>
      </dgm:t>
    </dgm:pt>
    <dgm:pt modelId="{9B1CF7FE-193C-4F39-B286-6F90EA677E11}" type="parTrans" cxnId="{67A64DCA-297B-4D56-AF50-2347B6C774FF}">
      <dgm:prSet/>
      <dgm:spPr/>
      <dgm:t>
        <a:bodyPr/>
        <a:lstStyle/>
        <a:p>
          <a:endParaRPr lang="en-US"/>
        </a:p>
      </dgm:t>
    </dgm:pt>
    <dgm:pt modelId="{185FE76E-7C6A-419E-B5EF-FF677E1A5953}" type="sibTrans" cxnId="{67A64DCA-297B-4D56-AF50-2347B6C774FF}">
      <dgm:prSet/>
      <dgm:spPr/>
      <dgm:t>
        <a:bodyPr/>
        <a:lstStyle/>
        <a:p>
          <a:endParaRPr lang="en-US"/>
        </a:p>
      </dgm:t>
    </dgm:pt>
    <dgm:pt modelId="{81D20302-FAF4-4F43-B2B5-44DF5BECB10C}" type="pres">
      <dgm:prSet presAssocID="{300A9BAD-EE0F-4AE5-BFCA-5F1626D1AF20}" presName="matrix" presStyleCnt="0">
        <dgm:presLayoutVars>
          <dgm:chMax val="1"/>
          <dgm:dir/>
          <dgm:resizeHandles val="exact"/>
        </dgm:presLayoutVars>
      </dgm:prSet>
      <dgm:spPr/>
    </dgm:pt>
    <dgm:pt modelId="{4509BF9D-A093-E34F-8822-D6AEBAD91C65}" type="pres">
      <dgm:prSet presAssocID="{300A9BAD-EE0F-4AE5-BFCA-5F1626D1AF20}" presName="diamond" presStyleLbl="bgShp" presStyleIdx="0" presStyleCnt="1"/>
      <dgm:spPr/>
    </dgm:pt>
    <dgm:pt modelId="{047D2AAB-F7BC-314B-B9FD-227F57E695B3}" type="pres">
      <dgm:prSet presAssocID="{300A9BAD-EE0F-4AE5-BFCA-5F1626D1AF20}" presName="quad1" presStyleLbl="node1" presStyleIdx="0" presStyleCnt="4">
        <dgm:presLayoutVars>
          <dgm:chMax val="0"/>
          <dgm:chPref val="0"/>
          <dgm:bulletEnabled val="1"/>
        </dgm:presLayoutVars>
      </dgm:prSet>
      <dgm:spPr/>
    </dgm:pt>
    <dgm:pt modelId="{49ADC175-F32D-8743-A620-F613D2BAFE5F}" type="pres">
      <dgm:prSet presAssocID="{300A9BAD-EE0F-4AE5-BFCA-5F1626D1AF20}" presName="quad2" presStyleLbl="node1" presStyleIdx="1" presStyleCnt="4">
        <dgm:presLayoutVars>
          <dgm:chMax val="0"/>
          <dgm:chPref val="0"/>
          <dgm:bulletEnabled val="1"/>
        </dgm:presLayoutVars>
      </dgm:prSet>
      <dgm:spPr/>
    </dgm:pt>
    <dgm:pt modelId="{D280590F-828B-D142-A776-95F9BCD07DAE}" type="pres">
      <dgm:prSet presAssocID="{300A9BAD-EE0F-4AE5-BFCA-5F1626D1AF20}" presName="quad3" presStyleLbl="node1" presStyleIdx="2" presStyleCnt="4">
        <dgm:presLayoutVars>
          <dgm:chMax val="0"/>
          <dgm:chPref val="0"/>
          <dgm:bulletEnabled val="1"/>
        </dgm:presLayoutVars>
      </dgm:prSet>
      <dgm:spPr/>
    </dgm:pt>
    <dgm:pt modelId="{5F510438-1F82-2449-93B4-37E797A859F8}" type="pres">
      <dgm:prSet presAssocID="{300A9BAD-EE0F-4AE5-BFCA-5F1626D1AF20}" presName="quad4" presStyleLbl="node1" presStyleIdx="3" presStyleCnt="4">
        <dgm:presLayoutVars>
          <dgm:chMax val="0"/>
          <dgm:chPref val="0"/>
          <dgm:bulletEnabled val="1"/>
        </dgm:presLayoutVars>
      </dgm:prSet>
      <dgm:spPr/>
    </dgm:pt>
  </dgm:ptLst>
  <dgm:cxnLst>
    <dgm:cxn modelId="{B8937B05-DAD5-9549-9882-C5075455702A}" type="presOf" srcId="{77377373-3302-40BC-BDC5-B0503B0870F9}" destId="{047D2AAB-F7BC-314B-B9FD-227F57E695B3}" srcOrd="0" destOrd="0" presId="urn:microsoft.com/office/officeart/2005/8/layout/matrix3"/>
    <dgm:cxn modelId="{9D9CBE1E-C4F8-400C-9F45-D97F4BAFF76D}" srcId="{300A9BAD-EE0F-4AE5-BFCA-5F1626D1AF20}" destId="{87D8170C-7509-4574-80F3-EBCD833F8470}" srcOrd="2" destOrd="0" parTransId="{1EEFD0CC-3CA8-4B46-B910-C9DBE748964F}" sibTransId="{C67E34C5-2358-4343-84E1-BBD6F9A04414}"/>
    <dgm:cxn modelId="{8FF90629-A164-404F-A7FF-769F0174EFC8}" type="presOf" srcId="{87D8170C-7509-4574-80F3-EBCD833F8470}" destId="{D280590F-828B-D142-A776-95F9BCD07DAE}" srcOrd="0" destOrd="0" presId="urn:microsoft.com/office/officeart/2005/8/layout/matrix3"/>
    <dgm:cxn modelId="{AAC27C6A-E824-4499-9A7E-4ABCDA489E50}" srcId="{300A9BAD-EE0F-4AE5-BFCA-5F1626D1AF20}" destId="{64CE839D-F3B2-453F-BAE0-117D7CAA98B9}" srcOrd="1" destOrd="0" parTransId="{918E8A90-4996-42F0-B000-43747064FD32}" sibTransId="{F30EB432-02A2-4895-A2CE-47FD6E3B4295}"/>
    <dgm:cxn modelId="{C8456389-D141-C445-91F6-6EF6B3850790}" type="presOf" srcId="{300A9BAD-EE0F-4AE5-BFCA-5F1626D1AF20}" destId="{81D20302-FAF4-4F43-B2B5-44DF5BECB10C}" srcOrd="0" destOrd="0" presId="urn:microsoft.com/office/officeart/2005/8/layout/matrix3"/>
    <dgm:cxn modelId="{57587F97-1B74-2A4E-BE99-F55FC0ED5A49}" type="presOf" srcId="{64CE839D-F3B2-453F-BAE0-117D7CAA98B9}" destId="{49ADC175-F32D-8743-A620-F613D2BAFE5F}" srcOrd="0" destOrd="0" presId="urn:microsoft.com/office/officeart/2005/8/layout/matrix3"/>
    <dgm:cxn modelId="{FA450DB6-B00C-4D13-B86F-1C2260C5A08B}" srcId="{300A9BAD-EE0F-4AE5-BFCA-5F1626D1AF20}" destId="{77377373-3302-40BC-BDC5-B0503B0870F9}" srcOrd="0" destOrd="0" parTransId="{32B8A63D-CDF6-4F53-856B-536DE7293EAF}" sibTransId="{61004C98-98B4-4183-A775-F5AE233F6C31}"/>
    <dgm:cxn modelId="{67A64DCA-297B-4D56-AF50-2347B6C774FF}" srcId="{300A9BAD-EE0F-4AE5-BFCA-5F1626D1AF20}" destId="{F893D47F-BC2C-4888-A4DD-8AC45FE3D465}" srcOrd="3" destOrd="0" parTransId="{9B1CF7FE-193C-4F39-B286-6F90EA677E11}" sibTransId="{185FE76E-7C6A-419E-B5EF-FF677E1A5953}"/>
    <dgm:cxn modelId="{FC115FFA-39CB-224D-B32F-45C2577F180D}" type="presOf" srcId="{F893D47F-BC2C-4888-A4DD-8AC45FE3D465}" destId="{5F510438-1F82-2449-93B4-37E797A859F8}" srcOrd="0" destOrd="0" presId="urn:microsoft.com/office/officeart/2005/8/layout/matrix3"/>
    <dgm:cxn modelId="{A17EF4A6-1437-EB4E-A309-3FFE369A21F0}" type="presParOf" srcId="{81D20302-FAF4-4F43-B2B5-44DF5BECB10C}" destId="{4509BF9D-A093-E34F-8822-D6AEBAD91C65}" srcOrd="0" destOrd="0" presId="urn:microsoft.com/office/officeart/2005/8/layout/matrix3"/>
    <dgm:cxn modelId="{C4AA5D70-3FED-4E48-A075-F7B1CCB30A9A}" type="presParOf" srcId="{81D20302-FAF4-4F43-B2B5-44DF5BECB10C}" destId="{047D2AAB-F7BC-314B-B9FD-227F57E695B3}" srcOrd="1" destOrd="0" presId="urn:microsoft.com/office/officeart/2005/8/layout/matrix3"/>
    <dgm:cxn modelId="{FED91987-2860-B44E-9852-1F83F920735F}" type="presParOf" srcId="{81D20302-FAF4-4F43-B2B5-44DF5BECB10C}" destId="{49ADC175-F32D-8743-A620-F613D2BAFE5F}" srcOrd="2" destOrd="0" presId="urn:microsoft.com/office/officeart/2005/8/layout/matrix3"/>
    <dgm:cxn modelId="{805D14CF-47C4-D846-A65F-A6751EB2FF97}" type="presParOf" srcId="{81D20302-FAF4-4F43-B2B5-44DF5BECB10C}" destId="{D280590F-828B-D142-A776-95F9BCD07DAE}" srcOrd="3" destOrd="0" presId="urn:microsoft.com/office/officeart/2005/8/layout/matrix3"/>
    <dgm:cxn modelId="{DA1C1E3F-92A0-1A49-A044-A3139994BE18}" type="presParOf" srcId="{81D20302-FAF4-4F43-B2B5-44DF5BECB10C}" destId="{5F510438-1F82-2449-93B4-37E797A859F8}"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CB0BBA-ED6C-4C43-BB56-A9D3EDFAFB3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553D9027-8DAC-4FE5-999A-CC50277C6165}">
      <dgm:prSet/>
      <dgm:spPr/>
      <dgm:t>
        <a:bodyPr/>
        <a:lstStyle/>
        <a:p>
          <a:r>
            <a:rPr lang="en-IN" dirty="0"/>
            <a:t>We trained the model on both the original and SMOTE-balanced datasets to tackle the class imbalance issue in hospital ratings.</a:t>
          </a:r>
          <a:endParaRPr lang="en-US" dirty="0"/>
        </a:p>
      </dgm:t>
    </dgm:pt>
    <dgm:pt modelId="{D243958C-4113-4BBE-A433-B8F7B1DBBF52}" type="parTrans" cxnId="{8874B851-1A83-421A-8671-3A2C6ACC3C97}">
      <dgm:prSet/>
      <dgm:spPr/>
      <dgm:t>
        <a:bodyPr/>
        <a:lstStyle/>
        <a:p>
          <a:endParaRPr lang="en-US"/>
        </a:p>
      </dgm:t>
    </dgm:pt>
    <dgm:pt modelId="{3DAD67F1-0DDD-49CA-87F4-9497CDB93EBD}" type="sibTrans" cxnId="{8874B851-1A83-421A-8671-3A2C6ACC3C97}">
      <dgm:prSet/>
      <dgm:spPr/>
      <dgm:t>
        <a:bodyPr/>
        <a:lstStyle/>
        <a:p>
          <a:endParaRPr lang="en-US"/>
        </a:p>
      </dgm:t>
    </dgm:pt>
    <dgm:pt modelId="{5745B636-7F03-4E87-9DA0-75F3C534632F}">
      <dgm:prSet/>
      <dgm:spPr/>
      <dgm:t>
        <a:bodyPr/>
        <a:lstStyle/>
        <a:p>
          <a:r>
            <a:rPr lang="en-IN" dirty="0"/>
            <a:t>This model served as a strong baseline because of its robustness and ability to work well with mixed types of data  both numerical and categorical.</a:t>
          </a:r>
          <a:endParaRPr lang="en-US" dirty="0"/>
        </a:p>
      </dgm:t>
    </dgm:pt>
    <dgm:pt modelId="{9D37218C-8FF2-4EEC-9FCD-303B7F07DDD5}" type="parTrans" cxnId="{A3102450-6685-439D-B19D-7F3E73DCABED}">
      <dgm:prSet/>
      <dgm:spPr/>
      <dgm:t>
        <a:bodyPr/>
        <a:lstStyle/>
        <a:p>
          <a:endParaRPr lang="en-US"/>
        </a:p>
      </dgm:t>
    </dgm:pt>
    <dgm:pt modelId="{3EB24EEC-2B29-42C7-8592-52CF6A2CAD79}" type="sibTrans" cxnId="{A3102450-6685-439D-B19D-7F3E73DCABED}">
      <dgm:prSet/>
      <dgm:spPr/>
      <dgm:t>
        <a:bodyPr/>
        <a:lstStyle/>
        <a:p>
          <a:endParaRPr lang="en-US"/>
        </a:p>
      </dgm:t>
    </dgm:pt>
    <dgm:pt modelId="{C5D8DF9E-12EB-4DF4-9041-BF6B538B73EE}">
      <dgm:prSet/>
      <dgm:spPr/>
      <dgm:t>
        <a:bodyPr/>
        <a:lstStyle/>
        <a:p>
          <a:r>
            <a:rPr lang="en-IN" dirty="0"/>
            <a:t>To understand how well the model actually performed, we looked at a few important metrics:</a:t>
          </a:r>
          <a:endParaRPr lang="en-US" dirty="0"/>
        </a:p>
      </dgm:t>
    </dgm:pt>
    <dgm:pt modelId="{94926402-69AF-4351-9E08-5AD4CC6E0DAF}" type="parTrans" cxnId="{C80807A5-4B91-43B8-9D5E-265F86533AF9}">
      <dgm:prSet/>
      <dgm:spPr/>
      <dgm:t>
        <a:bodyPr/>
        <a:lstStyle/>
        <a:p>
          <a:endParaRPr lang="en-US"/>
        </a:p>
      </dgm:t>
    </dgm:pt>
    <dgm:pt modelId="{6AF25652-948E-4F34-B8DA-11C96CD4455B}" type="sibTrans" cxnId="{C80807A5-4B91-43B8-9D5E-265F86533AF9}">
      <dgm:prSet/>
      <dgm:spPr/>
      <dgm:t>
        <a:bodyPr/>
        <a:lstStyle/>
        <a:p>
          <a:endParaRPr lang="en-US"/>
        </a:p>
      </dgm:t>
    </dgm:pt>
    <dgm:pt modelId="{CC177A64-86F5-4F93-99A7-A4FD1180A305}">
      <dgm:prSet/>
      <dgm:spPr/>
      <dgm:t>
        <a:bodyPr/>
        <a:lstStyle/>
        <a:p>
          <a:r>
            <a:rPr lang="en-IN" dirty="0"/>
            <a:t>✅ </a:t>
          </a:r>
          <a:r>
            <a:rPr lang="en-IN" b="1" dirty="0"/>
            <a:t>Accuracy:</a:t>
          </a:r>
          <a:r>
            <a:rPr lang="en-IN" dirty="0"/>
            <a:t> (0riginal data)98.65%</a:t>
          </a:r>
          <a:endParaRPr lang="en-US" dirty="0"/>
        </a:p>
      </dgm:t>
    </dgm:pt>
    <dgm:pt modelId="{8DD9C6F2-5B5D-4B8F-AAFA-7C94C53E005C}" type="parTrans" cxnId="{05615004-0D62-47C9-BBEC-14F38A641558}">
      <dgm:prSet/>
      <dgm:spPr/>
      <dgm:t>
        <a:bodyPr/>
        <a:lstStyle/>
        <a:p>
          <a:endParaRPr lang="en-US"/>
        </a:p>
      </dgm:t>
    </dgm:pt>
    <dgm:pt modelId="{8C45EEDF-1205-4759-B667-E984BD8480A1}" type="sibTrans" cxnId="{05615004-0D62-47C9-BBEC-14F38A641558}">
      <dgm:prSet/>
      <dgm:spPr/>
      <dgm:t>
        <a:bodyPr/>
        <a:lstStyle/>
        <a:p>
          <a:endParaRPr lang="en-US"/>
        </a:p>
      </dgm:t>
    </dgm:pt>
    <dgm:pt modelId="{3F10C47F-9E18-417A-84B5-9C629B786200}">
      <dgm:prSet/>
      <dgm:spPr/>
      <dgm:t>
        <a:bodyPr/>
        <a:lstStyle/>
        <a:p>
          <a:r>
            <a:rPr lang="en-IN" dirty="0"/>
            <a:t>🎯 </a:t>
          </a:r>
          <a:r>
            <a:rPr lang="en-IN" b="1" dirty="0"/>
            <a:t>Precision(original data):98.67%</a:t>
          </a:r>
          <a:endParaRPr lang="en-US" dirty="0"/>
        </a:p>
      </dgm:t>
    </dgm:pt>
    <dgm:pt modelId="{69E6E5F6-B9CA-480F-B3A2-7899AE2DC883}" type="parTrans" cxnId="{94120F60-C87A-4E4B-9BB6-0B982C8DBF1B}">
      <dgm:prSet/>
      <dgm:spPr/>
      <dgm:t>
        <a:bodyPr/>
        <a:lstStyle/>
        <a:p>
          <a:endParaRPr lang="en-US"/>
        </a:p>
      </dgm:t>
    </dgm:pt>
    <dgm:pt modelId="{ACE915B6-60A2-4808-A641-B6218E44B9BE}" type="sibTrans" cxnId="{94120F60-C87A-4E4B-9BB6-0B982C8DBF1B}">
      <dgm:prSet/>
      <dgm:spPr/>
      <dgm:t>
        <a:bodyPr/>
        <a:lstStyle/>
        <a:p>
          <a:endParaRPr lang="en-US"/>
        </a:p>
      </dgm:t>
    </dgm:pt>
    <dgm:pt modelId="{70D6FF4E-5836-4B36-9239-48CEE82E9A07}">
      <dgm:prSet/>
      <dgm:spPr/>
      <dgm:t>
        <a:bodyPr/>
        <a:lstStyle/>
        <a:p>
          <a:r>
            <a:rPr lang="en-IN" dirty="0"/>
            <a:t>📊 </a:t>
          </a:r>
          <a:r>
            <a:rPr lang="en-IN" b="1" dirty="0"/>
            <a:t>F1 Score(original data):</a:t>
          </a:r>
          <a:r>
            <a:rPr lang="en-IN" dirty="0"/>
            <a:t> 94.08%</a:t>
          </a:r>
          <a:endParaRPr lang="en-US" dirty="0"/>
        </a:p>
      </dgm:t>
    </dgm:pt>
    <dgm:pt modelId="{51F9E646-2814-4288-8A6E-93E468A6E413}" type="parTrans" cxnId="{4B862BF2-0C72-4664-9199-0C61BE999C6C}">
      <dgm:prSet/>
      <dgm:spPr/>
      <dgm:t>
        <a:bodyPr/>
        <a:lstStyle/>
        <a:p>
          <a:endParaRPr lang="en-US"/>
        </a:p>
      </dgm:t>
    </dgm:pt>
    <dgm:pt modelId="{E100AFB8-4ABB-4A2C-9653-BE653B94A746}" type="sibTrans" cxnId="{4B862BF2-0C72-4664-9199-0C61BE999C6C}">
      <dgm:prSet/>
      <dgm:spPr/>
      <dgm:t>
        <a:bodyPr/>
        <a:lstStyle/>
        <a:p>
          <a:endParaRPr lang="en-US"/>
        </a:p>
      </dgm:t>
    </dgm:pt>
    <dgm:pt modelId="{B6A3526D-8BFD-451D-A27F-9DBEA404E570}">
      <dgm:prSet/>
      <dgm:spPr/>
      <dgm:t>
        <a:bodyPr/>
        <a:lstStyle/>
        <a:p>
          <a:r>
            <a:rPr lang="en-IN" dirty="0"/>
            <a:t>🚀 </a:t>
          </a:r>
          <a:r>
            <a:rPr lang="en-IN" b="1" dirty="0"/>
            <a:t>ROC AUC:</a:t>
          </a:r>
          <a:r>
            <a:rPr lang="en-IN" dirty="0"/>
            <a:t> 99.47%</a:t>
          </a:r>
          <a:endParaRPr lang="en-US" dirty="0"/>
        </a:p>
      </dgm:t>
    </dgm:pt>
    <dgm:pt modelId="{D0EA23CC-EF1D-4F00-8AA3-0E6C233C7736}" type="parTrans" cxnId="{A72A18D8-5A5B-4ED6-A153-E2ACB6567A9E}">
      <dgm:prSet/>
      <dgm:spPr/>
      <dgm:t>
        <a:bodyPr/>
        <a:lstStyle/>
        <a:p>
          <a:endParaRPr lang="en-US"/>
        </a:p>
      </dgm:t>
    </dgm:pt>
    <dgm:pt modelId="{01FA57A2-2041-4821-9472-2FD90480A2AC}" type="sibTrans" cxnId="{A72A18D8-5A5B-4ED6-A153-E2ACB6567A9E}">
      <dgm:prSet/>
      <dgm:spPr/>
      <dgm:t>
        <a:bodyPr/>
        <a:lstStyle/>
        <a:p>
          <a:endParaRPr lang="en-US"/>
        </a:p>
      </dgm:t>
    </dgm:pt>
    <dgm:pt modelId="{772BAED9-F75D-4C03-8838-9F1F55D02EBB}">
      <dgm:prSet/>
      <dgm:spPr/>
      <dgm:t>
        <a:bodyPr/>
        <a:lstStyle/>
        <a:p>
          <a:r>
            <a:rPr lang="en-IN" dirty="0"/>
            <a:t>These results clearly showed that using </a:t>
          </a:r>
          <a:r>
            <a:rPr lang="en-IN" b="1" dirty="0"/>
            <a:t>SMOTE for class balancing</a:t>
          </a:r>
          <a:r>
            <a:rPr lang="en-IN" dirty="0"/>
            <a:t> improved the model's ability to identify minority classes more effectively.</a:t>
          </a:r>
          <a:endParaRPr lang="en-US" dirty="0"/>
        </a:p>
      </dgm:t>
    </dgm:pt>
    <dgm:pt modelId="{9C7EF4A3-78E1-40B6-85BE-4A45CFBDC864}" type="parTrans" cxnId="{D5C7E5BD-E14A-46F6-B528-E4E23EA79302}">
      <dgm:prSet/>
      <dgm:spPr/>
      <dgm:t>
        <a:bodyPr/>
        <a:lstStyle/>
        <a:p>
          <a:endParaRPr lang="en-US"/>
        </a:p>
      </dgm:t>
    </dgm:pt>
    <dgm:pt modelId="{EF249D54-6B69-4D1B-96D4-D41810FB03E5}" type="sibTrans" cxnId="{D5C7E5BD-E14A-46F6-B528-E4E23EA79302}">
      <dgm:prSet/>
      <dgm:spPr/>
      <dgm:t>
        <a:bodyPr/>
        <a:lstStyle/>
        <a:p>
          <a:endParaRPr lang="en-US"/>
        </a:p>
      </dgm:t>
    </dgm:pt>
    <dgm:pt modelId="{5AC3627D-34BA-6B46-93EF-6BEB640A16B0}">
      <dgm:prSet/>
      <dgm:spPr/>
      <dgm:t>
        <a:bodyPr/>
        <a:lstStyle/>
        <a:p>
          <a:r>
            <a:rPr lang="en-US" dirty="0"/>
            <a:t>Accuracy(smote data):</a:t>
          </a:r>
          <a:r>
            <a:rPr lang="en-IN" b="0" i="0" dirty="0"/>
            <a:t>0.981758 </a:t>
          </a:r>
          <a:endParaRPr lang="en-US" dirty="0"/>
        </a:p>
      </dgm:t>
    </dgm:pt>
    <dgm:pt modelId="{FA7E7570-DDAD-D249-B96D-720836AA7AFB}" type="parTrans" cxnId="{30F72C1D-FFCD-724A-87DE-A850FD808FAC}">
      <dgm:prSet/>
      <dgm:spPr/>
      <dgm:t>
        <a:bodyPr/>
        <a:lstStyle/>
        <a:p>
          <a:endParaRPr lang="en-GB"/>
        </a:p>
      </dgm:t>
    </dgm:pt>
    <dgm:pt modelId="{7FB8A465-19F6-A14A-817F-90237269BB6C}" type="sibTrans" cxnId="{30F72C1D-FFCD-724A-87DE-A850FD808FAC}">
      <dgm:prSet/>
      <dgm:spPr/>
      <dgm:t>
        <a:bodyPr/>
        <a:lstStyle/>
        <a:p>
          <a:endParaRPr lang="en-GB"/>
        </a:p>
      </dgm:t>
    </dgm:pt>
    <dgm:pt modelId="{0116FF67-8F26-C34F-9BFD-276703485A9A}">
      <dgm:prSet/>
      <dgm:spPr/>
      <dgm:t>
        <a:bodyPr/>
        <a:lstStyle/>
        <a:p>
          <a:r>
            <a:rPr lang="en-US" dirty="0"/>
            <a:t>precision(smote data):</a:t>
          </a:r>
          <a:r>
            <a:rPr lang="en-IN" b="0" i="0" dirty="0"/>
            <a:t>0.924835</a:t>
          </a:r>
          <a:endParaRPr lang="en-US" dirty="0"/>
        </a:p>
      </dgm:t>
    </dgm:pt>
    <dgm:pt modelId="{91326ED6-6E75-3D4A-81BC-4A81D5FAF065}" type="parTrans" cxnId="{AA89FF2C-236C-E841-9259-F065BD23CB34}">
      <dgm:prSet/>
      <dgm:spPr/>
      <dgm:t>
        <a:bodyPr/>
        <a:lstStyle/>
        <a:p>
          <a:endParaRPr lang="en-GB"/>
        </a:p>
      </dgm:t>
    </dgm:pt>
    <dgm:pt modelId="{BDF19C38-4D6F-3D45-AFAA-73C2E99D0271}" type="sibTrans" cxnId="{AA89FF2C-236C-E841-9259-F065BD23CB34}">
      <dgm:prSet/>
      <dgm:spPr/>
      <dgm:t>
        <a:bodyPr/>
        <a:lstStyle/>
        <a:p>
          <a:endParaRPr lang="en-GB"/>
        </a:p>
      </dgm:t>
    </dgm:pt>
    <dgm:pt modelId="{3B233FBF-D204-7848-8B1D-D2B41EC670AE}">
      <dgm:prSet/>
      <dgm:spPr/>
      <dgm:t>
        <a:bodyPr/>
        <a:lstStyle/>
        <a:p>
          <a:r>
            <a:rPr lang="en-US" dirty="0"/>
            <a:t>F1 Score (smote </a:t>
          </a:r>
          <a:r>
            <a:rPr lang="en-US"/>
            <a:t>data):</a:t>
          </a:r>
          <a:r>
            <a:rPr lang="en-IN" b="0" i="0"/>
            <a:t>0.935917 </a:t>
          </a:r>
          <a:endParaRPr lang="en-US" dirty="0"/>
        </a:p>
      </dgm:t>
    </dgm:pt>
    <dgm:pt modelId="{F586C24F-6DF4-9340-ACCE-563A069013EE}" type="parTrans" cxnId="{3FD00339-5835-A14E-9454-FD6B71ED36E6}">
      <dgm:prSet/>
      <dgm:spPr/>
      <dgm:t>
        <a:bodyPr/>
        <a:lstStyle/>
        <a:p>
          <a:endParaRPr lang="en-GB"/>
        </a:p>
      </dgm:t>
    </dgm:pt>
    <dgm:pt modelId="{B6482AC9-EA5F-3846-9EB0-73857682733D}" type="sibTrans" cxnId="{3FD00339-5835-A14E-9454-FD6B71ED36E6}">
      <dgm:prSet/>
      <dgm:spPr/>
      <dgm:t>
        <a:bodyPr/>
        <a:lstStyle/>
        <a:p>
          <a:endParaRPr lang="en-GB"/>
        </a:p>
      </dgm:t>
    </dgm:pt>
    <dgm:pt modelId="{25E66752-FC81-1548-AC07-13744B6D0CB1}" type="pres">
      <dgm:prSet presAssocID="{C5CB0BBA-ED6C-4C43-BB56-A9D3EDFAFB38}" presName="linear" presStyleCnt="0">
        <dgm:presLayoutVars>
          <dgm:animLvl val="lvl"/>
          <dgm:resizeHandles val="exact"/>
        </dgm:presLayoutVars>
      </dgm:prSet>
      <dgm:spPr/>
    </dgm:pt>
    <dgm:pt modelId="{AE74C88E-7624-FD40-B2A9-411CEE85A1CA}" type="pres">
      <dgm:prSet presAssocID="{553D9027-8DAC-4FE5-999A-CC50277C6165}" presName="parentText" presStyleLbl="node1" presStyleIdx="0" presStyleCnt="11">
        <dgm:presLayoutVars>
          <dgm:chMax val="0"/>
          <dgm:bulletEnabled val="1"/>
        </dgm:presLayoutVars>
      </dgm:prSet>
      <dgm:spPr/>
    </dgm:pt>
    <dgm:pt modelId="{212BE8E3-C944-6740-8D46-497A929439B4}" type="pres">
      <dgm:prSet presAssocID="{3DAD67F1-0DDD-49CA-87F4-9497CDB93EBD}" presName="spacer" presStyleCnt="0"/>
      <dgm:spPr/>
    </dgm:pt>
    <dgm:pt modelId="{322BD72F-501C-0F43-ADAB-229250029896}" type="pres">
      <dgm:prSet presAssocID="{5745B636-7F03-4E87-9DA0-75F3C534632F}" presName="parentText" presStyleLbl="node1" presStyleIdx="1" presStyleCnt="11">
        <dgm:presLayoutVars>
          <dgm:chMax val="0"/>
          <dgm:bulletEnabled val="1"/>
        </dgm:presLayoutVars>
      </dgm:prSet>
      <dgm:spPr/>
    </dgm:pt>
    <dgm:pt modelId="{A4DD2AE9-1F2A-F44D-BD26-4298B7B48AE2}" type="pres">
      <dgm:prSet presAssocID="{3EB24EEC-2B29-42C7-8592-52CF6A2CAD79}" presName="spacer" presStyleCnt="0"/>
      <dgm:spPr/>
    </dgm:pt>
    <dgm:pt modelId="{5627E874-706E-7C40-B090-5E4EC0D5F54F}" type="pres">
      <dgm:prSet presAssocID="{C5D8DF9E-12EB-4DF4-9041-BF6B538B73EE}" presName="parentText" presStyleLbl="node1" presStyleIdx="2" presStyleCnt="11">
        <dgm:presLayoutVars>
          <dgm:chMax val="0"/>
          <dgm:bulletEnabled val="1"/>
        </dgm:presLayoutVars>
      </dgm:prSet>
      <dgm:spPr/>
    </dgm:pt>
    <dgm:pt modelId="{27E731CA-1F59-BA44-B469-39BBB19F03EC}" type="pres">
      <dgm:prSet presAssocID="{6AF25652-948E-4F34-B8DA-11C96CD4455B}" presName="spacer" presStyleCnt="0"/>
      <dgm:spPr/>
    </dgm:pt>
    <dgm:pt modelId="{D5B8AE2A-A8CF-6D44-8AC3-555AA4393AC7}" type="pres">
      <dgm:prSet presAssocID="{CC177A64-86F5-4F93-99A7-A4FD1180A305}" presName="parentText" presStyleLbl="node1" presStyleIdx="3" presStyleCnt="11">
        <dgm:presLayoutVars>
          <dgm:chMax val="0"/>
          <dgm:bulletEnabled val="1"/>
        </dgm:presLayoutVars>
      </dgm:prSet>
      <dgm:spPr/>
    </dgm:pt>
    <dgm:pt modelId="{AB184DB2-6872-344E-86CC-74B090EFC169}" type="pres">
      <dgm:prSet presAssocID="{8C45EEDF-1205-4759-B667-E984BD8480A1}" presName="spacer" presStyleCnt="0"/>
      <dgm:spPr/>
    </dgm:pt>
    <dgm:pt modelId="{2C319986-BF79-294A-B2D1-BD2282C0123F}" type="pres">
      <dgm:prSet presAssocID="{5AC3627D-34BA-6B46-93EF-6BEB640A16B0}" presName="parentText" presStyleLbl="node1" presStyleIdx="4" presStyleCnt="11">
        <dgm:presLayoutVars>
          <dgm:chMax val="0"/>
          <dgm:bulletEnabled val="1"/>
        </dgm:presLayoutVars>
      </dgm:prSet>
      <dgm:spPr/>
    </dgm:pt>
    <dgm:pt modelId="{B53D2693-D3CD-F24C-8180-5A7592CDFB23}" type="pres">
      <dgm:prSet presAssocID="{7FB8A465-19F6-A14A-817F-90237269BB6C}" presName="spacer" presStyleCnt="0"/>
      <dgm:spPr/>
    </dgm:pt>
    <dgm:pt modelId="{C9C60164-C8FB-C640-BAC8-ACFCAFE3A107}" type="pres">
      <dgm:prSet presAssocID="{3F10C47F-9E18-417A-84B5-9C629B786200}" presName="parentText" presStyleLbl="node1" presStyleIdx="5" presStyleCnt="11">
        <dgm:presLayoutVars>
          <dgm:chMax val="0"/>
          <dgm:bulletEnabled val="1"/>
        </dgm:presLayoutVars>
      </dgm:prSet>
      <dgm:spPr/>
    </dgm:pt>
    <dgm:pt modelId="{969E48C4-FB60-D542-9989-589D67A02B36}" type="pres">
      <dgm:prSet presAssocID="{ACE915B6-60A2-4808-A641-B6218E44B9BE}" presName="spacer" presStyleCnt="0"/>
      <dgm:spPr/>
    </dgm:pt>
    <dgm:pt modelId="{9BFC29A7-7FF9-744E-BC84-C428DE7DA241}" type="pres">
      <dgm:prSet presAssocID="{0116FF67-8F26-C34F-9BFD-276703485A9A}" presName="parentText" presStyleLbl="node1" presStyleIdx="6" presStyleCnt="11">
        <dgm:presLayoutVars>
          <dgm:chMax val="0"/>
          <dgm:bulletEnabled val="1"/>
        </dgm:presLayoutVars>
      </dgm:prSet>
      <dgm:spPr/>
    </dgm:pt>
    <dgm:pt modelId="{6010B97E-2AF0-624D-ACD4-15C570EA7CA1}" type="pres">
      <dgm:prSet presAssocID="{BDF19C38-4D6F-3D45-AFAA-73C2E99D0271}" presName="spacer" presStyleCnt="0"/>
      <dgm:spPr/>
    </dgm:pt>
    <dgm:pt modelId="{73EFB93D-7E19-3647-9E35-069E03DB6EF5}" type="pres">
      <dgm:prSet presAssocID="{70D6FF4E-5836-4B36-9239-48CEE82E9A07}" presName="parentText" presStyleLbl="node1" presStyleIdx="7" presStyleCnt="11">
        <dgm:presLayoutVars>
          <dgm:chMax val="0"/>
          <dgm:bulletEnabled val="1"/>
        </dgm:presLayoutVars>
      </dgm:prSet>
      <dgm:spPr/>
    </dgm:pt>
    <dgm:pt modelId="{F2A6F2B5-ABAA-8545-AEC4-3FD8D24090CB}" type="pres">
      <dgm:prSet presAssocID="{E100AFB8-4ABB-4A2C-9653-BE653B94A746}" presName="spacer" presStyleCnt="0"/>
      <dgm:spPr/>
    </dgm:pt>
    <dgm:pt modelId="{606726F6-A1EF-C84C-A88B-9DF6990DD703}" type="pres">
      <dgm:prSet presAssocID="{3B233FBF-D204-7848-8B1D-D2B41EC670AE}" presName="parentText" presStyleLbl="node1" presStyleIdx="8" presStyleCnt="11">
        <dgm:presLayoutVars>
          <dgm:chMax val="0"/>
          <dgm:bulletEnabled val="1"/>
        </dgm:presLayoutVars>
      </dgm:prSet>
      <dgm:spPr/>
    </dgm:pt>
    <dgm:pt modelId="{280F5682-1BF3-FB4F-81E5-80D9150148C6}" type="pres">
      <dgm:prSet presAssocID="{B6482AC9-EA5F-3846-9EB0-73857682733D}" presName="spacer" presStyleCnt="0"/>
      <dgm:spPr/>
    </dgm:pt>
    <dgm:pt modelId="{5A90E894-148A-1649-8ED3-A3A8B8ED9DFA}" type="pres">
      <dgm:prSet presAssocID="{B6A3526D-8BFD-451D-A27F-9DBEA404E570}" presName="parentText" presStyleLbl="node1" presStyleIdx="9" presStyleCnt="11">
        <dgm:presLayoutVars>
          <dgm:chMax val="0"/>
          <dgm:bulletEnabled val="1"/>
        </dgm:presLayoutVars>
      </dgm:prSet>
      <dgm:spPr/>
    </dgm:pt>
    <dgm:pt modelId="{80517944-1850-824F-8FB4-D602C24DDD38}" type="pres">
      <dgm:prSet presAssocID="{01FA57A2-2041-4821-9472-2FD90480A2AC}" presName="spacer" presStyleCnt="0"/>
      <dgm:spPr/>
    </dgm:pt>
    <dgm:pt modelId="{60BAC852-3680-7944-B6B7-554D0A4528AB}" type="pres">
      <dgm:prSet presAssocID="{772BAED9-F75D-4C03-8838-9F1F55D02EBB}" presName="parentText" presStyleLbl="node1" presStyleIdx="10" presStyleCnt="11">
        <dgm:presLayoutVars>
          <dgm:chMax val="0"/>
          <dgm:bulletEnabled val="1"/>
        </dgm:presLayoutVars>
      </dgm:prSet>
      <dgm:spPr/>
    </dgm:pt>
  </dgm:ptLst>
  <dgm:cxnLst>
    <dgm:cxn modelId="{05615004-0D62-47C9-BBEC-14F38A641558}" srcId="{C5CB0BBA-ED6C-4C43-BB56-A9D3EDFAFB38}" destId="{CC177A64-86F5-4F93-99A7-A4FD1180A305}" srcOrd="3" destOrd="0" parTransId="{8DD9C6F2-5B5D-4B8F-AAFA-7C94C53E005C}" sibTransId="{8C45EEDF-1205-4759-B667-E984BD8480A1}"/>
    <dgm:cxn modelId="{31945B08-8EAC-BD42-9CA4-B518023781A2}" type="presOf" srcId="{C5CB0BBA-ED6C-4C43-BB56-A9D3EDFAFB38}" destId="{25E66752-FC81-1548-AC07-13744B6D0CB1}" srcOrd="0" destOrd="0" presId="urn:microsoft.com/office/officeart/2005/8/layout/vList2"/>
    <dgm:cxn modelId="{30F72C1D-FFCD-724A-87DE-A850FD808FAC}" srcId="{C5CB0BBA-ED6C-4C43-BB56-A9D3EDFAFB38}" destId="{5AC3627D-34BA-6B46-93EF-6BEB640A16B0}" srcOrd="4" destOrd="0" parTransId="{FA7E7570-DDAD-D249-B96D-720836AA7AFB}" sibTransId="{7FB8A465-19F6-A14A-817F-90237269BB6C}"/>
    <dgm:cxn modelId="{AA89FF2C-236C-E841-9259-F065BD23CB34}" srcId="{C5CB0BBA-ED6C-4C43-BB56-A9D3EDFAFB38}" destId="{0116FF67-8F26-C34F-9BFD-276703485A9A}" srcOrd="6" destOrd="0" parTransId="{91326ED6-6E75-3D4A-81BC-4A81D5FAF065}" sibTransId="{BDF19C38-4D6F-3D45-AFAA-73C2E99D0271}"/>
    <dgm:cxn modelId="{3A91F735-9727-9849-B930-57077E04CC83}" type="presOf" srcId="{3B233FBF-D204-7848-8B1D-D2B41EC670AE}" destId="{606726F6-A1EF-C84C-A88B-9DF6990DD703}" srcOrd="0" destOrd="0" presId="urn:microsoft.com/office/officeart/2005/8/layout/vList2"/>
    <dgm:cxn modelId="{3FD00339-5835-A14E-9454-FD6B71ED36E6}" srcId="{C5CB0BBA-ED6C-4C43-BB56-A9D3EDFAFB38}" destId="{3B233FBF-D204-7848-8B1D-D2B41EC670AE}" srcOrd="8" destOrd="0" parTransId="{F586C24F-6DF4-9340-ACCE-563A069013EE}" sibTransId="{B6482AC9-EA5F-3846-9EB0-73857682733D}"/>
    <dgm:cxn modelId="{4A79753F-6782-C443-BA7A-A17819B0E172}" type="presOf" srcId="{772BAED9-F75D-4C03-8838-9F1F55D02EBB}" destId="{60BAC852-3680-7944-B6B7-554D0A4528AB}" srcOrd="0" destOrd="0" presId="urn:microsoft.com/office/officeart/2005/8/layout/vList2"/>
    <dgm:cxn modelId="{A3102450-6685-439D-B19D-7F3E73DCABED}" srcId="{C5CB0BBA-ED6C-4C43-BB56-A9D3EDFAFB38}" destId="{5745B636-7F03-4E87-9DA0-75F3C534632F}" srcOrd="1" destOrd="0" parTransId="{9D37218C-8FF2-4EEC-9FCD-303B7F07DDD5}" sibTransId="{3EB24EEC-2B29-42C7-8592-52CF6A2CAD79}"/>
    <dgm:cxn modelId="{8874B851-1A83-421A-8671-3A2C6ACC3C97}" srcId="{C5CB0BBA-ED6C-4C43-BB56-A9D3EDFAFB38}" destId="{553D9027-8DAC-4FE5-999A-CC50277C6165}" srcOrd="0" destOrd="0" parTransId="{D243958C-4113-4BBE-A433-B8F7B1DBBF52}" sibTransId="{3DAD67F1-0DDD-49CA-87F4-9497CDB93EBD}"/>
    <dgm:cxn modelId="{94120F60-C87A-4E4B-9BB6-0B982C8DBF1B}" srcId="{C5CB0BBA-ED6C-4C43-BB56-A9D3EDFAFB38}" destId="{3F10C47F-9E18-417A-84B5-9C629B786200}" srcOrd="5" destOrd="0" parTransId="{69E6E5F6-B9CA-480F-B3A2-7899AE2DC883}" sibTransId="{ACE915B6-60A2-4808-A641-B6218E44B9BE}"/>
    <dgm:cxn modelId="{A18E3C96-1EBF-EB49-B839-4F72876B57AB}" type="presOf" srcId="{C5D8DF9E-12EB-4DF4-9041-BF6B538B73EE}" destId="{5627E874-706E-7C40-B090-5E4EC0D5F54F}" srcOrd="0" destOrd="0" presId="urn:microsoft.com/office/officeart/2005/8/layout/vList2"/>
    <dgm:cxn modelId="{CE00D7A0-8144-5941-87CA-957FC69A6159}" type="presOf" srcId="{CC177A64-86F5-4F93-99A7-A4FD1180A305}" destId="{D5B8AE2A-A8CF-6D44-8AC3-555AA4393AC7}" srcOrd="0" destOrd="0" presId="urn:microsoft.com/office/officeart/2005/8/layout/vList2"/>
    <dgm:cxn modelId="{C80807A5-4B91-43B8-9D5E-265F86533AF9}" srcId="{C5CB0BBA-ED6C-4C43-BB56-A9D3EDFAFB38}" destId="{C5D8DF9E-12EB-4DF4-9041-BF6B538B73EE}" srcOrd="2" destOrd="0" parTransId="{94926402-69AF-4351-9E08-5AD4CC6E0DAF}" sibTransId="{6AF25652-948E-4F34-B8DA-11C96CD4455B}"/>
    <dgm:cxn modelId="{411BA2AC-E772-7641-9805-9169D0A3B07F}" type="presOf" srcId="{5AC3627D-34BA-6B46-93EF-6BEB640A16B0}" destId="{2C319986-BF79-294A-B2D1-BD2282C0123F}" srcOrd="0" destOrd="0" presId="urn:microsoft.com/office/officeart/2005/8/layout/vList2"/>
    <dgm:cxn modelId="{91E97BAF-1DCE-4643-909F-BAF7E3405DFA}" type="presOf" srcId="{553D9027-8DAC-4FE5-999A-CC50277C6165}" destId="{AE74C88E-7624-FD40-B2A9-411CEE85A1CA}" srcOrd="0" destOrd="0" presId="urn:microsoft.com/office/officeart/2005/8/layout/vList2"/>
    <dgm:cxn modelId="{222DE8B1-1722-C84E-BE63-097DE16505AF}" type="presOf" srcId="{3F10C47F-9E18-417A-84B5-9C629B786200}" destId="{C9C60164-C8FB-C640-BAC8-ACFCAFE3A107}" srcOrd="0" destOrd="0" presId="urn:microsoft.com/office/officeart/2005/8/layout/vList2"/>
    <dgm:cxn modelId="{C29775B5-F25B-3645-BA1E-178D3A631F42}" type="presOf" srcId="{0116FF67-8F26-C34F-9BFD-276703485A9A}" destId="{9BFC29A7-7FF9-744E-BC84-C428DE7DA241}" srcOrd="0" destOrd="0" presId="urn:microsoft.com/office/officeart/2005/8/layout/vList2"/>
    <dgm:cxn modelId="{1392EAB8-4CCD-DA4C-8F40-52744DD6B0CE}" type="presOf" srcId="{70D6FF4E-5836-4B36-9239-48CEE82E9A07}" destId="{73EFB93D-7E19-3647-9E35-069E03DB6EF5}" srcOrd="0" destOrd="0" presId="urn:microsoft.com/office/officeart/2005/8/layout/vList2"/>
    <dgm:cxn modelId="{D5C7E5BD-E14A-46F6-B528-E4E23EA79302}" srcId="{C5CB0BBA-ED6C-4C43-BB56-A9D3EDFAFB38}" destId="{772BAED9-F75D-4C03-8838-9F1F55D02EBB}" srcOrd="10" destOrd="0" parTransId="{9C7EF4A3-78E1-40B6-85BE-4A45CFBDC864}" sibTransId="{EF249D54-6B69-4D1B-96D4-D41810FB03E5}"/>
    <dgm:cxn modelId="{A72A18D8-5A5B-4ED6-A153-E2ACB6567A9E}" srcId="{C5CB0BBA-ED6C-4C43-BB56-A9D3EDFAFB38}" destId="{B6A3526D-8BFD-451D-A27F-9DBEA404E570}" srcOrd="9" destOrd="0" parTransId="{D0EA23CC-EF1D-4F00-8AA3-0E6C233C7736}" sibTransId="{01FA57A2-2041-4821-9472-2FD90480A2AC}"/>
    <dgm:cxn modelId="{4A2397E3-B9BD-EF4C-82FD-552A5B36244E}" type="presOf" srcId="{5745B636-7F03-4E87-9DA0-75F3C534632F}" destId="{322BD72F-501C-0F43-ADAB-229250029896}" srcOrd="0" destOrd="0" presId="urn:microsoft.com/office/officeart/2005/8/layout/vList2"/>
    <dgm:cxn modelId="{996392EB-6518-E845-BEC4-D5E57E8A5FC0}" type="presOf" srcId="{B6A3526D-8BFD-451D-A27F-9DBEA404E570}" destId="{5A90E894-148A-1649-8ED3-A3A8B8ED9DFA}" srcOrd="0" destOrd="0" presId="urn:microsoft.com/office/officeart/2005/8/layout/vList2"/>
    <dgm:cxn modelId="{4B862BF2-0C72-4664-9199-0C61BE999C6C}" srcId="{C5CB0BBA-ED6C-4C43-BB56-A9D3EDFAFB38}" destId="{70D6FF4E-5836-4B36-9239-48CEE82E9A07}" srcOrd="7" destOrd="0" parTransId="{51F9E646-2814-4288-8A6E-93E468A6E413}" sibTransId="{E100AFB8-4ABB-4A2C-9653-BE653B94A746}"/>
    <dgm:cxn modelId="{7E6FB89F-6D8B-7241-AD40-E7F36A166C14}" type="presParOf" srcId="{25E66752-FC81-1548-AC07-13744B6D0CB1}" destId="{AE74C88E-7624-FD40-B2A9-411CEE85A1CA}" srcOrd="0" destOrd="0" presId="urn:microsoft.com/office/officeart/2005/8/layout/vList2"/>
    <dgm:cxn modelId="{E6BB0D4F-4E04-9C44-8755-4C99724B596D}" type="presParOf" srcId="{25E66752-FC81-1548-AC07-13744B6D0CB1}" destId="{212BE8E3-C944-6740-8D46-497A929439B4}" srcOrd="1" destOrd="0" presId="urn:microsoft.com/office/officeart/2005/8/layout/vList2"/>
    <dgm:cxn modelId="{18D75F45-4DD9-A74F-BF4B-B4D9AD0AE3C3}" type="presParOf" srcId="{25E66752-FC81-1548-AC07-13744B6D0CB1}" destId="{322BD72F-501C-0F43-ADAB-229250029896}" srcOrd="2" destOrd="0" presId="urn:microsoft.com/office/officeart/2005/8/layout/vList2"/>
    <dgm:cxn modelId="{363C1031-26DB-C54E-A950-19E95FB8E358}" type="presParOf" srcId="{25E66752-FC81-1548-AC07-13744B6D0CB1}" destId="{A4DD2AE9-1F2A-F44D-BD26-4298B7B48AE2}" srcOrd="3" destOrd="0" presId="urn:microsoft.com/office/officeart/2005/8/layout/vList2"/>
    <dgm:cxn modelId="{1A891C5E-4798-0640-A66F-835DAC65AC5B}" type="presParOf" srcId="{25E66752-FC81-1548-AC07-13744B6D0CB1}" destId="{5627E874-706E-7C40-B090-5E4EC0D5F54F}" srcOrd="4" destOrd="0" presId="urn:microsoft.com/office/officeart/2005/8/layout/vList2"/>
    <dgm:cxn modelId="{B86D211E-B823-AF4A-830A-6E8523ED3287}" type="presParOf" srcId="{25E66752-FC81-1548-AC07-13744B6D0CB1}" destId="{27E731CA-1F59-BA44-B469-39BBB19F03EC}" srcOrd="5" destOrd="0" presId="urn:microsoft.com/office/officeart/2005/8/layout/vList2"/>
    <dgm:cxn modelId="{15A6FC76-5A21-ED48-B759-93EE8B5BD618}" type="presParOf" srcId="{25E66752-FC81-1548-AC07-13744B6D0CB1}" destId="{D5B8AE2A-A8CF-6D44-8AC3-555AA4393AC7}" srcOrd="6" destOrd="0" presId="urn:microsoft.com/office/officeart/2005/8/layout/vList2"/>
    <dgm:cxn modelId="{E18AA5E4-446E-584A-9FB4-B007F4391826}" type="presParOf" srcId="{25E66752-FC81-1548-AC07-13744B6D0CB1}" destId="{AB184DB2-6872-344E-86CC-74B090EFC169}" srcOrd="7" destOrd="0" presId="urn:microsoft.com/office/officeart/2005/8/layout/vList2"/>
    <dgm:cxn modelId="{43A9138F-7B9F-954C-B4B1-D5F8ABE2456C}" type="presParOf" srcId="{25E66752-FC81-1548-AC07-13744B6D0CB1}" destId="{2C319986-BF79-294A-B2D1-BD2282C0123F}" srcOrd="8" destOrd="0" presId="urn:microsoft.com/office/officeart/2005/8/layout/vList2"/>
    <dgm:cxn modelId="{7B3AEE43-62BC-0E4C-BC2F-3DFB981E8DAC}" type="presParOf" srcId="{25E66752-FC81-1548-AC07-13744B6D0CB1}" destId="{B53D2693-D3CD-F24C-8180-5A7592CDFB23}" srcOrd="9" destOrd="0" presId="urn:microsoft.com/office/officeart/2005/8/layout/vList2"/>
    <dgm:cxn modelId="{6AF25EFB-D9AF-964B-BA29-D156165AF284}" type="presParOf" srcId="{25E66752-FC81-1548-AC07-13744B6D0CB1}" destId="{C9C60164-C8FB-C640-BAC8-ACFCAFE3A107}" srcOrd="10" destOrd="0" presId="urn:microsoft.com/office/officeart/2005/8/layout/vList2"/>
    <dgm:cxn modelId="{63EDB97C-A970-8C48-952B-E9E9E77F1E0B}" type="presParOf" srcId="{25E66752-FC81-1548-AC07-13744B6D0CB1}" destId="{969E48C4-FB60-D542-9989-589D67A02B36}" srcOrd="11" destOrd="0" presId="urn:microsoft.com/office/officeart/2005/8/layout/vList2"/>
    <dgm:cxn modelId="{A9829D74-C6E2-6D42-A59B-8E7733C277C4}" type="presParOf" srcId="{25E66752-FC81-1548-AC07-13744B6D0CB1}" destId="{9BFC29A7-7FF9-744E-BC84-C428DE7DA241}" srcOrd="12" destOrd="0" presId="urn:microsoft.com/office/officeart/2005/8/layout/vList2"/>
    <dgm:cxn modelId="{1CBFA516-B1D9-9F46-B7AC-6B2CFB470564}" type="presParOf" srcId="{25E66752-FC81-1548-AC07-13744B6D0CB1}" destId="{6010B97E-2AF0-624D-ACD4-15C570EA7CA1}" srcOrd="13" destOrd="0" presId="urn:microsoft.com/office/officeart/2005/8/layout/vList2"/>
    <dgm:cxn modelId="{81D526CB-CC67-214C-86E4-58CEDBD1C497}" type="presParOf" srcId="{25E66752-FC81-1548-AC07-13744B6D0CB1}" destId="{73EFB93D-7E19-3647-9E35-069E03DB6EF5}" srcOrd="14" destOrd="0" presId="urn:microsoft.com/office/officeart/2005/8/layout/vList2"/>
    <dgm:cxn modelId="{F08EB311-B7BC-AA49-8811-CCFF0EA91AFF}" type="presParOf" srcId="{25E66752-FC81-1548-AC07-13744B6D0CB1}" destId="{F2A6F2B5-ABAA-8545-AEC4-3FD8D24090CB}" srcOrd="15" destOrd="0" presId="urn:microsoft.com/office/officeart/2005/8/layout/vList2"/>
    <dgm:cxn modelId="{84955D3B-93ED-874B-AA4F-9A3B3E74CD5F}" type="presParOf" srcId="{25E66752-FC81-1548-AC07-13744B6D0CB1}" destId="{606726F6-A1EF-C84C-A88B-9DF6990DD703}" srcOrd="16" destOrd="0" presId="urn:microsoft.com/office/officeart/2005/8/layout/vList2"/>
    <dgm:cxn modelId="{C82CCCA3-A9CE-C548-9022-1BC213672692}" type="presParOf" srcId="{25E66752-FC81-1548-AC07-13744B6D0CB1}" destId="{280F5682-1BF3-FB4F-81E5-80D9150148C6}" srcOrd="17" destOrd="0" presId="urn:microsoft.com/office/officeart/2005/8/layout/vList2"/>
    <dgm:cxn modelId="{F73031E4-8159-014B-B337-B2260C0B154B}" type="presParOf" srcId="{25E66752-FC81-1548-AC07-13744B6D0CB1}" destId="{5A90E894-148A-1649-8ED3-A3A8B8ED9DFA}" srcOrd="18" destOrd="0" presId="urn:microsoft.com/office/officeart/2005/8/layout/vList2"/>
    <dgm:cxn modelId="{15E4BB7B-B607-A743-B1FD-0FAA467D892C}" type="presParOf" srcId="{25E66752-FC81-1548-AC07-13744B6D0CB1}" destId="{80517944-1850-824F-8FB4-D602C24DDD38}" srcOrd="19" destOrd="0" presId="urn:microsoft.com/office/officeart/2005/8/layout/vList2"/>
    <dgm:cxn modelId="{05954627-F9DB-0049-9930-63D3531BCA55}" type="presParOf" srcId="{25E66752-FC81-1548-AC07-13744B6D0CB1}" destId="{60BAC852-3680-7944-B6B7-554D0A4528AB}" srcOrd="2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D9FE4-005D-4E7C-AC18-940CE5D02C23}">
      <dsp:nvSpPr>
        <dsp:cNvPr id="0" name=""/>
        <dsp:cNvSpPr/>
      </dsp:nvSpPr>
      <dsp:spPr>
        <a:xfrm>
          <a:off x="821613" y="181793"/>
          <a:ext cx="651005" cy="6510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C91EA3-32C2-46A5-B71A-24F2AC5DCC07}">
      <dsp:nvSpPr>
        <dsp:cNvPr id="0" name=""/>
        <dsp:cNvSpPr/>
      </dsp:nvSpPr>
      <dsp:spPr>
        <a:xfrm>
          <a:off x="423776" y="1070807"/>
          <a:ext cx="1446679" cy="578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dirty="0"/>
            <a:t>Started by loading the dataset and checking for any missing values using .info()</a:t>
          </a:r>
          <a:endParaRPr lang="en-US" sz="1100" kern="1200" dirty="0"/>
        </a:p>
      </dsp:txBody>
      <dsp:txXfrm>
        <a:off x="423776" y="1070807"/>
        <a:ext cx="1446679" cy="578671"/>
      </dsp:txXfrm>
    </dsp:sp>
    <dsp:sp modelId="{3E1DF512-FB13-45BC-A647-0099CE2B6F83}">
      <dsp:nvSpPr>
        <dsp:cNvPr id="0" name=""/>
        <dsp:cNvSpPr/>
      </dsp:nvSpPr>
      <dsp:spPr>
        <a:xfrm>
          <a:off x="2521462" y="181793"/>
          <a:ext cx="651005" cy="6510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F41854-1268-453D-A5B6-85B0BDC9DA58}">
      <dsp:nvSpPr>
        <dsp:cNvPr id="0" name=""/>
        <dsp:cNvSpPr/>
      </dsp:nvSpPr>
      <dsp:spPr>
        <a:xfrm>
          <a:off x="2123625" y="1070807"/>
          <a:ext cx="1446679" cy="578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a:t>Used .describe() to explore basic stats and spot any inconsistencies or unusual values</a:t>
          </a:r>
          <a:endParaRPr lang="en-US" sz="1100" kern="1200"/>
        </a:p>
      </dsp:txBody>
      <dsp:txXfrm>
        <a:off x="2123625" y="1070807"/>
        <a:ext cx="1446679" cy="578671"/>
      </dsp:txXfrm>
    </dsp:sp>
    <dsp:sp modelId="{E10DF737-FFD8-487B-888E-8052216AC791}">
      <dsp:nvSpPr>
        <dsp:cNvPr id="0" name=""/>
        <dsp:cNvSpPr/>
      </dsp:nvSpPr>
      <dsp:spPr>
        <a:xfrm>
          <a:off x="821613" y="2011148"/>
          <a:ext cx="651005" cy="6510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0F8305-8E89-47CE-A2C5-D3A87C19233E}">
      <dsp:nvSpPr>
        <dsp:cNvPr id="0" name=""/>
        <dsp:cNvSpPr/>
      </dsp:nvSpPr>
      <dsp:spPr>
        <a:xfrm>
          <a:off x="423776" y="2900162"/>
          <a:ext cx="1446679" cy="578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a:t>Analyzed how hospital mortality ratings were distributed</a:t>
          </a:r>
          <a:endParaRPr lang="en-US" sz="1100" kern="1200"/>
        </a:p>
      </dsp:txBody>
      <dsp:txXfrm>
        <a:off x="423776" y="2900162"/>
        <a:ext cx="1446679" cy="578671"/>
      </dsp:txXfrm>
    </dsp:sp>
    <dsp:sp modelId="{7B9BC8E1-C051-4924-B6C5-DD4ABBAB5EB2}">
      <dsp:nvSpPr>
        <dsp:cNvPr id="0" name=""/>
        <dsp:cNvSpPr/>
      </dsp:nvSpPr>
      <dsp:spPr>
        <a:xfrm>
          <a:off x="2521462" y="2011148"/>
          <a:ext cx="651005" cy="65100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DB4E3C-CE6F-475B-9F08-C080DEE4A326}">
      <dsp:nvSpPr>
        <dsp:cNvPr id="0" name=""/>
        <dsp:cNvSpPr/>
      </dsp:nvSpPr>
      <dsp:spPr>
        <a:xfrm>
          <a:off x="2123625" y="2900162"/>
          <a:ext cx="1446679" cy="578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dirty="0"/>
            <a:t>Found that most hospitals were rated </a:t>
          </a:r>
          <a:r>
            <a:rPr lang="en-IN" sz="1100" b="1" kern="1200" dirty="0"/>
            <a:t>"As Expected"</a:t>
          </a:r>
          <a:endParaRPr lang="en-US" sz="1100" kern="1200" dirty="0"/>
        </a:p>
      </dsp:txBody>
      <dsp:txXfrm>
        <a:off x="2123625" y="2900162"/>
        <a:ext cx="1446679" cy="578671"/>
      </dsp:txXfrm>
    </dsp:sp>
    <dsp:sp modelId="{C4F0FF58-0944-42F3-B3AA-11E4C783A192}">
      <dsp:nvSpPr>
        <dsp:cNvPr id="0" name=""/>
        <dsp:cNvSpPr/>
      </dsp:nvSpPr>
      <dsp:spPr>
        <a:xfrm>
          <a:off x="821613" y="3840504"/>
          <a:ext cx="651005" cy="65100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91D8F7-E42A-4B6D-AC76-7F76291EF349}">
      <dsp:nvSpPr>
        <dsp:cNvPr id="0" name=""/>
        <dsp:cNvSpPr/>
      </dsp:nvSpPr>
      <dsp:spPr>
        <a:xfrm>
          <a:off x="423776" y="4729517"/>
          <a:ext cx="1446679" cy="578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a:t>Created bar charts and histograms to visualize mortality trends and detect any skewness or outliers</a:t>
          </a:r>
          <a:endParaRPr lang="en-US" sz="1100" kern="1200"/>
        </a:p>
      </dsp:txBody>
      <dsp:txXfrm>
        <a:off x="423776" y="4729517"/>
        <a:ext cx="1446679" cy="578671"/>
      </dsp:txXfrm>
    </dsp:sp>
    <dsp:sp modelId="{85065E16-79A4-4E0A-97CC-C86729ACCFA1}">
      <dsp:nvSpPr>
        <dsp:cNvPr id="0" name=""/>
        <dsp:cNvSpPr/>
      </dsp:nvSpPr>
      <dsp:spPr>
        <a:xfrm>
          <a:off x="2521462" y="3840504"/>
          <a:ext cx="651005" cy="65100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D2A33D-4526-4B6E-B4A3-F2070AE40319}">
      <dsp:nvSpPr>
        <dsp:cNvPr id="0" name=""/>
        <dsp:cNvSpPr/>
      </dsp:nvSpPr>
      <dsp:spPr>
        <a:xfrm>
          <a:off x="2123625" y="4729517"/>
          <a:ext cx="1446679" cy="578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a:t>Noticed a class imbalance in the target variable, which could impact model accuracy</a:t>
          </a:r>
          <a:endParaRPr lang="en-US" sz="1100" kern="1200"/>
        </a:p>
      </dsp:txBody>
      <dsp:txXfrm>
        <a:off x="2123625" y="4729517"/>
        <a:ext cx="1446679" cy="5786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9BF9D-A093-E34F-8822-D6AEBAD91C65}">
      <dsp:nvSpPr>
        <dsp:cNvPr id="0" name=""/>
        <dsp:cNvSpPr/>
      </dsp:nvSpPr>
      <dsp:spPr>
        <a:xfrm>
          <a:off x="3160402" y="0"/>
          <a:ext cx="4194795" cy="4194795"/>
        </a:xfrm>
        <a:prstGeom prst="diamond">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7D2AAB-F7BC-314B-B9FD-227F57E695B3}">
      <dsp:nvSpPr>
        <dsp:cNvPr id="0" name=""/>
        <dsp:cNvSpPr/>
      </dsp:nvSpPr>
      <dsp:spPr>
        <a:xfrm>
          <a:off x="3558908" y="398505"/>
          <a:ext cx="1635970" cy="16359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N" sz="2200" kern="1200"/>
            <a:t>Random Forest Classifier</a:t>
          </a:r>
          <a:endParaRPr lang="en-US" sz="2200" kern="1200"/>
        </a:p>
      </dsp:txBody>
      <dsp:txXfrm>
        <a:off x="3638769" y="478366"/>
        <a:ext cx="1476248" cy="1476248"/>
      </dsp:txXfrm>
    </dsp:sp>
    <dsp:sp modelId="{49ADC175-F32D-8743-A620-F613D2BAFE5F}">
      <dsp:nvSpPr>
        <dsp:cNvPr id="0" name=""/>
        <dsp:cNvSpPr/>
      </dsp:nvSpPr>
      <dsp:spPr>
        <a:xfrm>
          <a:off x="5320721" y="398505"/>
          <a:ext cx="1635970" cy="16359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N" sz="2200" kern="1200"/>
            <a:t>XGBoost Classifier</a:t>
          </a:r>
          <a:endParaRPr lang="en-US" sz="2200" kern="1200"/>
        </a:p>
      </dsp:txBody>
      <dsp:txXfrm>
        <a:off x="5400582" y="478366"/>
        <a:ext cx="1476248" cy="1476248"/>
      </dsp:txXfrm>
    </dsp:sp>
    <dsp:sp modelId="{D280590F-828B-D142-A776-95F9BCD07DAE}">
      <dsp:nvSpPr>
        <dsp:cNvPr id="0" name=""/>
        <dsp:cNvSpPr/>
      </dsp:nvSpPr>
      <dsp:spPr>
        <a:xfrm>
          <a:off x="3558908" y="2160319"/>
          <a:ext cx="1635970" cy="16359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N" sz="2200" kern="1200"/>
            <a:t>K-Nearest Neighbors (KNN)</a:t>
          </a:r>
          <a:endParaRPr lang="en-US" sz="2200" kern="1200"/>
        </a:p>
      </dsp:txBody>
      <dsp:txXfrm>
        <a:off x="3638769" y="2240180"/>
        <a:ext cx="1476248" cy="1476248"/>
      </dsp:txXfrm>
    </dsp:sp>
    <dsp:sp modelId="{5F510438-1F82-2449-93B4-37E797A859F8}">
      <dsp:nvSpPr>
        <dsp:cNvPr id="0" name=""/>
        <dsp:cNvSpPr/>
      </dsp:nvSpPr>
      <dsp:spPr>
        <a:xfrm>
          <a:off x="5320721" y="2160319"/>
          <a:ext cx="1635970" cy="16359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N" sz="2200" kern="1200"/>
            <a:t>Support Vector Classifier (SVM)</a:t>
          </a:r>
          <a:endParaRPr lang="en-US" sz="2200" kern="1200"/>
        </a:p>
      </dsp:txBody>
      <dsp:txXfrm>
        <a:off x="5400582" y="2240180"/>
        <a:ext cx="1476248" cy="14762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74C88E-7624-FD40-B2A9-411CEE85A1CA}">
      <dsp:nvSpPr>
        <dsp:cNvPr id="0" name=""/>
        <dsp:cNvSpPr/>
      </dsp:nvSpPr>
      <dsp:spPr>
        <a:xfrm>
          <a:off x="0" y="200674"/>
          <a:ext cx="6173409" cy="46331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We trained the model on both the original and SMOTE-balanced datasets to tackle the class imbalance issue in hospital ratings.</a:t>
          </a:r>
          <a:endParaRPr lang="en-US" sz="1200" kern="1200" dirty="0"/>
        </a:p>
      </dsp:txBody>
      <dsp:txXfrm>
        <a:off x="22617" y="223291"/>
        <a:ext cx="6128175" cy="418085"/>
      </dsp:txXfrm>
    </dsp:sp>
    <dsp:sp modelId="{322BD72F-501C-0F43-ADAB-229250029896}">
      <dsp:nvSpPr>
        <dsp:cNvPr id="0" name=""/>
        <dsp:cNvSpPr/>
      </dsp:nvSpPr>
      <dsp:spPr>
        <a:xfrm>
          <a:off x="0" y="698554"/>
          <a:ext cx="6173409" cy="463319"/>
        </a:xfrm>
        <a:prstGeom prst="roundRect">
          <a:avLst/>
        </a:prstGeom>
        <a:solidFill>
          <a:schemeClr val="accent2">
            <a:hueOff val="-39995"/>
            <a:satOff val="-4839"/>
            <a:lumOff val="-2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This model served as a strong baseline because of its robustness and ability to work well with mixed types of data  both numerical and categorical.</a:t>
          </a:r>
          <a:endParaRPr lang="en-US" sz="1200" kern="1200" dirty="0"/>
        </a:p>
      </dsp:txBody>
      <dsp:txXfrm>
        <a:off x="22617" y="721171"/>
        <a:ext cx="6128175" cy="418085"/>
      </dsp:txXfrm>
    </dsp:sp>
    <dsp:sp modelId="{5627E874-706E-7C40-B090-5E4EC0D5F54F}">
      <dsp:nvSpPr>
        <dsp:cNvPr id="0" name=""/>
        <dsp:cNvSpPr/>
      </dsp:nvSpPr>
      <dsp:spPr>
        <a:xfrm>
          <a:off x="0" y="1196434"/>
          <a:ext cx="6173409" cy="463319"/>
        </a:xfrm>
        <a:prstGeom prst="roundRect">
          <a:avLst/>
        </a:prstGeom>
        <a:solidFill>
          <a:schemeClr val="accent2">
            <a:hueOff val="-79989"/>
            <a:satOff val="-9677"/>
            <a:lumOff val="-462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To understand how well the model actually performed, we looked at a few important metrics:</a:t>
          </a:r>
          <a:endParaRPr lang="en-US" sz="1200" kern="1200" dirty="0"/>
        </a:p>
      </dsp:txBody>
      <dsp:txXfrm>
        <a:off x="22617" y="1219051"/>
        <a:ext cx="6128175" cy="418085"/>
      </dsp:txXfrm>
    </dsp:sp>
    <dsp:sp modelId="{D5B8AE2A-A8CF-6D44-8AC3-555AA4393AC7}">
      <dsp:nvSpPr>
        <dsp:cNvPr id="0" name=""/>
        <dsp:cNvSpPr/>
      </dsp:nvSpPr>
      <dsp:spPr>
        <a:xfrm>
          <a:off x="0" y="1694314"/>
          <a:ext cx="6173409" cy="463319"/>
        </a:xfrm>
        <a:prstGeom prst="roundRect">
          <a:avLst/>
        </a:prstGeom>
        <a:solidFill>
          <a:schemeClr val="accent2">
            <a:hueOff val="-119984"/>
            <a:satOff val="-14516"/>
            <a:lumOff val="-6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 </a:t>
          </a:r>
          <a:r>
            <a:rPr lang="en-IN" sz="1200" b="1" kern="1200" dirty="0"/>
            <a:t>Accuracy:</a:t>
          </a:r>
          <a:r>
            <a:rPr lang="en-IN" sz="1200" kern="1200" dirty="0"/>
            <a:t> (0riginal data)98.65%</a:t>
          </a:r>
          <a:endParaRPr lang="en-US" sz="1200" kern="1200" dirty="0"/>
        </a:p>
      </dsp:txBody>
      <dsp:txXfrm>
        <a:off x="22617" y="1716931"/>
        <a:ext cx="6128175" cy="418085"/>
      </dsp:txXfrm>
    </dsp:sp>
    <dsp:sp modelId="{2C319986-BF79-294A-B2D1-BD2282C0123F}">
      <dsp:nvSpPr>
        <dsp:cNvPr id="0" name=""/>
        <dsp:cNvSpPr/>
      </dsp:nvSpPr>
      <dsp:spPr>
        <a:xfrm>
          <a:off x="0" y="2192194"/>
          <a:ext cx="6173409" cy="463319"/>
        </a:xfrm>
        <a:prstGeom prst="roundRect">
          <a:avLst/>
        </a:prstGeom>
        <a:solidFill>
          <a:schemeClr val="accent2">
            <a:hueOff val="-159978"/>
            <a:satOff val="-19354"/>
            <a:lumOff val="-9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Accuracy(smote data):</a:t>
          </a:r>
          <a:r>
            <a:rPr lang="en-IN" sz="1200" b="0" i="0" kern="1200" dirty="0"/>
            <a:t>0.981758 </a:t>
          </a:r>
          <a:endParaRPr lang="en-US" sz="1200" kern="1200" dirty="0"/>
        </a:p>
      </dsp:txBody>
      <dsp:txXfrm>
        <a:off x="22617" y="2214811"/>
        <a:ext cx="6128175" cy="418085"/>
      </dsp:txXfrm>
    </dsp:sp>
    <dsp:sp modelId="{C9C60164-C8FB-C640-BAC8-ACFCAFE3A107}">
      <dsp:nvSpPr>
        <dsp:cNvPr id="0" name=""/>
        <dsp:cNvSpPr/>
      </dsp:nvSpPr>
      <dsp:spPr>
        <a:xfrm>
          <a:off x="0" y="2690074"/>
          <a:ext cx="6173409" cy="463319"/>
        </a:xfrm>
        <a:prstGeom prst="roundRect">
          <a:avLst/>
        </a:prstGeom>
        <a:solidFill>
          <a:schemeClr val="accent2">
            <a:hueOff val="-199973"/>
            <a:satOff val="-24193"/>
            <a:lumOff val="-1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 </a:t>
          </a:r>
          <a:r>
            <a:rPr lang="en-IN" sz="1200" b="1" kern="1200" dirty="0"/>
            <a:t>Precision(original data):98.67%</a:t>
          </a:r>
          <a:endParaRPr lang="en-US" sz="1200" kern="1200" dirty="0"/>
        </a:p>
      </dsp:txBody>
      <dsp:txXfrm>
        <a:off x="22617" y="2712691"/>
        <a:ext cx="6128175" cy="418085"/>
      </dsp:txXfrm>
    </dsp:sp>
    <dsp:sp modelId="{9BFC29A7-7FF9-744E-BC84-C428DE7DA241}">
      <dsp:nvSpPr>
        <dsp:cNvPr id="0" name=""/>
        <dsp:cNvSpPr/>
      </dsp:nvSpPr>
      <dsp:spPr>
        <a:xfrm>
          <a:off x="0" y="3187954"/>
          <a:ext cx="6173409" cy="463319"/>
        </a:xfrm>
        <a:prstGeom prst="roundRect">
          <a:avLst/>
        </a:prstGeom>
        <a:solidFill>
          <a:schemeClr val="accent2">
            <a:hueOff val="-239967"/>
            <a:satOff val="-29031"/>
            <a:lumOff val="-13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precision(smote data):</a:t>
          </a:r>
          <a:r>
            <a:rPr lang="en-IN" sz="1200" b="0" i="0" kern="1200" dirty="0"/>
            <a:t>0.924835</a:t>
          </a:r>
          <a:endParaRPr lang="en-US" sz="1200" kern="1200" dirty="0"/>
        </a:p>
      </dsp:txBody>
      <dsp:txXfrm>
        <a:off x="22617" y="3210571"/>
        <a:ext cx="6128175" cy="418085"/>
      </dsp:txXfrm>
    </dsp:sp>
    <dsp:sp modelId="{73EFB93D-7E19-3647-9E35-069E03DB6EF5}">
      <dsp:nvSpPr>
        <dsp:cNvPr id="0" name=""/>
        <dsp:cNvSpPr/>
      </dsp:nvSpPr>
      <dsp:spPr>
        <a:xfrm>
          <a:off x="0" y="3685834"/>
          <a:ext cx="6173409" cy="463319"/>
        </a:xfrm>
        <a:prstGeom prst="roundRect">
          <a:avLst/>
        </a:prstGeom>
        <a:solidFill>
          <a:schemeClr val="accent2">
            <a:hueOff val="-279962"/>
            <a:satOff val="-33870"/>
            <a:lumOff val="-161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 </a:t>
          </a:r>
          <a:r>
            <a:rPr lang="en-IN" sz="1200" b="1" kern="1200" dirty="0"/>
            <a:t>F1 Score(original data):</a:t>
          </a:r>
          <a:r>
            <a:rPr lang="en-IN" sz="1200" kern="1200" dirty="0"/>
            <a:t> 94.08%</a:t>
          </a:r>
          <a:endParaRPr lang="en-US" sz="1200" kern="1200" dirty="0"/>
        </a:p>
      </dsp:txBody>
      <dsp:txXfrm>
        <a:off x="22617" y="3708451"/>
        <a:ext cx="6128175" cy="418085"/>
      </dsp:txXfrm>
    </dsp:sp>
    <dsp:sp modelId="{606726F6-A1EF-C84C-A88B-9DF6990DD703}">
      <dsp:nvSpPr>
        <dsp:cNvPr id="0" name=""/>
        <dsp:cNvSpPr/>
      </dsp:nvSpPr>
      <dsp:spPr>
        <a:xfrm>
          <a:off x="0" y="4183714"/>
          <a:ext cx="6173409" cy="463319"/>
        </a:xfrm>
        <a:prstGeom prst="roundRect">
          <a:avLst/>
        </a:prstGeom>
        <a:solidFill>
          <a:schemeClr val="accent2">
            <a:hueOff val="-319956"/>
            <a:satOff val="-38708"/>
            <a:lumOff val="-18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F1 Score (smote </a:t>
          </a:r>
          <a:r>
            <a:rPr lang="en-US" sz="1200" kern="1200"/>
            <a:t>data):</a:t>
          </a:r>
          <a:r>
            <a:rPr lang="en-IN" sz="1200" b="0" i="0" kern="1200"/>
            <a:t>0.935917 </a:t>
          </a:r>
          <a:endParaRPr lang="en-US" sz="1200" kern="1200" dirty="0"/>
        </a:p>
      </dsp:txBody>
      <dsp:txXfrm>
        <a:off x="22617" y="4206331"/>
        <a:ext cx="6128175" cy="418085"/>
      </dsp:txXfrm>
    </dsp:sp>
    <dsp:sp modelId="{5A90E894-148A-1649-8ED3-A3A8B8ED9DFA}">
      <dsp:nvSpPr>
        <dsp:cNvPr id="0" name=""/>
        <dsp:cNvSpPr/>
      </dsp:nvSpPr>
      <dsp:spPr>
        <a:xfrm>
          <a:off x="0" y="4681594"/>
          <a:ext cx="6173409" cy="463319"/>
        </a:xfrm>
        <a:prstGeom prst="roundRect">
          <a:avLst/>
        </a:prstGeom>
        <a:solidFill>
          <a:schemeClr val="accent2">
            <a:hueOff val="-359951"/>
            <a:satOff val="-43547"/>
            <a:lumOff val="-208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 </a:t>
          </a:r>
          <a:r>
            <a:rPr lang="en-IN" sz="1200" b="1" kern="1200" dirty="0"/>
            <a:t>ROC AUC:</a:t>
          </a:r>
          <a:r>
            <a:rPr lang="en-IN" sz="1200" kern="1200" dirty="0"/>
            <a:t> 99.47%</a:t>
          </a:r>
          <a:endParaRPr lang="en-US" sz="1200" kern="1200" dirty="0"/>
        </a:p>
      </dsp:txBody>
      <dsp:txXfrm>
        <a:off x="22617" y="4704211"/>
        <a:ext cx="6128175" cy="418085"/>
      </dsp:txXfrm>
    </dsp:sp>
    <dsp:sp modelId="{60BAC852-3680-7944-B6B7-554D0A4528AB}">
      <dsp:nvSpPr>
        <dsp:cNvPr id="0" name=""/>
        <dsp:cNvSpPr/>
      </dsp:nvSpPr>
      <dsp:spPr>
        <a:xfrm>
          <a:off x="0" y="5179474"/>
          <a:ext cx="6173409" cy="463319"/>
        </a:xfrm>
        <a:prstGeom prst="roundRect">
          <a:avLst/>
        </a:prstGeom>
        <a:solidFill>
          <a:schemeClr val="accent2">
            <a:hueOff val="-399945"/>
            <a:satOff val="-48385"/>
            <a:lumOff val="-2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These results clearly showed that using </a:t>
          </a:r>
          <a:r>
            <a:rPr lang="en-IN" sz="1200" b="1" kern="1200" dirty="0"/>
            <a:t>SMOTE for class balancing</a:t>
          </a:r>
          <a:r>
            <a:rPr lang="en-IN" sz="1200" kern="1200" dirty="0"/>
            <a:t> improved the model's ability to identify minority classes more effectively.</a:t>
          </a:r>
          <a:endParaRPr lang="en-US" sz="1200" kern="1200" dirty="0"/>
        </a:p>
      </dsp:txBody>
      <dsp:txXfrm>
        <a:off x="22617" y="5202091"/>
        <a:ext cx="6128175" cy="41808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4/11/25</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91330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4/11/25</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192313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4/11/25</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835916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4/11/25</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891605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4/11/25</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36733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4/11/25</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3738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4/11/25</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515750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4/11/25</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34734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4/11/25</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942262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4/11/25</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589075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4/11/25</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00345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4/11/25</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969542891"/>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7" r:id="rId6"/>
    <p:sldLayoutId id="2147483732" r:id="rId7"/>
    <p:sldLayoutId id="2147483733" r:id="rId8"/>
    <p:sldLayoutId id="2147483734" r:id="rId9"/>
    <p:sldLayoutId id="2147483736" r:id="rId10"/>
    <p:sldLayoutId id="2147483735"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doi.org/10.1016/j.jacc.2008.11.034" TargetMode="External"/><Relationship Id="rId3" Type="http://schemas.openxmlformats.org/officeDocument/2006/relationships/hyperlink" Target="https://www.nature.com/articles/s41746-018-0029-1" TargetMode="External"/><Relationship Id="rId7" Type="http://schemas.openxmlformats.org/officeDocument/2006/relationships/slide" Target="slide18.xml"/><Relationship Id="rId2" Type="http://schemas.openxmlformats.org/officeDocument/2006/relationships/hyperlink" Target="https://www.jacc.org/doi/abs/10.1016/j.jcin.2014.07.025" TargetMode="External"/><Relationship Id="rId1" Type="http://schemas.openxmlformats.org/officeDocument/2006/relationships/slideLayout" Target="../slideLayouts/slideLayout2.xml"/><Relationship Id="rId6" Type="http://schemas.openxmlformats.org/officeDocument/2006/relationships/hyperlink" Target="https://doi.org/10.1371/journal.pmed.1003253" TargetMode="External"/><Relationship Id="rId5" Type="http://schemas.openxmlformats.org/officeDocument/2006/relationships/hyperlink" Target="https://arxiv.org/abs/2009.01366" TargetMode="External"/><Relationship Id="rId4" Type="http://schemas.openxmlformats.org/officeDocument/2006/relationships/hyperlink" Target="https://doi.org/10.1162/dint_a_00094"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arxiv.org/abs/2009.01366" TargetMode="External"/><Relationship Id="rId3" Type="http://schemas.openxmlformats.org/officeDocument/2006/relationships/slide" Target="slide19.xml"/><Relationship Id="rId7" Type="http://schemas.openxmlformats.org/officeDocument/2006/relationships/hyperlink" Target="https://doi.org/10.1016/j.jcin.2014.08.005" TargetMode="External"/><Relationship Id="rId2" Type="http://schemas.openxmlformats.org/officeDocument/2006/relationships/hyperlink" Target="https://journals.plos.org/plosmedicine/article?id=10.1371/journal.pmed.1003253" TargetMode="External"/><Relationship Id="rId1" Type="http://schemas.openxmlformats.org/officeDocument/2006/relationships/slideLayout" Target="../slideLayouts/slideLayout2.xml"/><Relationship Id="rId6" Type="http://schemas.openxmlformats.org/officeDocument/2006/relationships/hyperlink" Target="https://pubmed.ncbi.nlm.nih.gov/21843220/" TargetMode="External"/><Relationship Id="rId5" Type="http://schemas.openxmlformats.org/officeDocument/2006/relationships/hyperlink" Target="https://doi.org/10.1016/j.jcin.2015.12.006" TargetMode="External"/><Relationship Id="rId4" Type="http://schemas.openxmlformats.org/officeDocument/2006/relationships/hyperlink" Target="https://doi.org/10.31083/j.rcm2311376" TargetMode="External"/><Relationship Id="rId9" Type="http://schemas.openxmlformats.org/officeDocument/2006/relationships/hyperlink" Target="https://doi.org/10.1016/j.jcin.2013.03.02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0" name="Rectangle 119">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2" name="Rectangle 121">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4" name="Rectangle 123">
            <a:extLst>
              <a:ext uri="{FF2B5EF4-FFF2-40B4-BE49-F238E27FC236}">
                <a16:creationId xmlns:a16="http://schemas.microsoft.com/office/drawing/2014/main" id="{60E728E6-A07E-4A6C-AB92-D56E1402F6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272EBD4-C5D1-6A2C-AE55-F0BB90379D3D}"/>
              </a:ext>
            </a:extLst>
          </p:cNvPr>
          <p:cNvPicPr>
            <a:picLocks noChangeAspect="1"/>
          </p:cNvPicPr>
          <p:nvPr/>
        </p:nvPicPr>
        <p:blipFill>
          <a:blip r:embed="rId2">
            <a:alphaModFix amt="70000"/>
          </a:blip>
          <a:srcRect r="-1" b="1741"/>
          <a:stretch/>
        </p:blipFill>
        <p:spPr>
          <a:xfrm>
            <a:off x="20" y="10"/>
            <a:ext cx="12188932" cy="6856614"/>
          </a:xfrm>
          <a:prstGeom prst="rect">
            <a:avLst/>
          </a:prstGeom>
        </p:spPr>
      </p:pic>
      <p:sp>
        <p:nvSpPr>
          <p:cNvPr id="2" name="Title 1">
            <a:extLst>
              <a:ext uri="{FF2B5EF4-FFF2-40B4-BE49-F238E27FC236}">
                <a16:creationId xmlns:a16="http://schemas.microsoft.com/office/drawing/2014/main" id="{16D94C02-F8F9-C4F2-F0D8-7C37C848DAB0}"/>
              </a:ext>
            </a:extLst>
          </p:cNvPr>
          <p:cNvSpPr>
            <a:spLocks noGrp="1"/>
          </p:cNvSpPr>
          <p:nvPr>
            <p:ph type="ctrTitle"/>
          </p:nvPr>
        </p:nvSpPr>
        <p:spPr>
          <a:xfrm>
            <a:off x="996275" y="744909"/>
            <a:ext cx="10190071" cy="3145855"/>
          </a:xfrm>
        </p:spPr>
        <p:txBody>
          <a:bodyPr anchor="b">
            <a:normAutofit/>
          </a:bodyPr>
          <a:lstStyle/>
          <a:p>
            <a:r>
              <a:rPr lang="en-US" sz="5400">
                <a:solidFill>
                  <a:srgbClr val="FFFFFF"/>
                </a:solidFill>
              </a:rPr>
              <a:t>Predictive Modelling in-hospital mortality following with elective surgery</a:t>
            </a:r>
          </a:p>
        </p:txBody>
      </p:sp>
      <p:sp>
        <p:nvSpPr>
          <p:cNvPr id="3" name="Subtitle 2">
            <a:extLst>
              <a:ext uri="{FF2B5EF4-FFF2-40B4-BE49-F238E27FC236}">
                <a16:creationId xmlns:a16="http://schemas.microsoft.com/office/drawing/2014/main" id="{A94E89FC-38F2-8B6F-74DC-3F720264DF33}"/>
              </a:ext>
            </a:extLst>
          </p:cNvPr>
          <p:cNvSpPr>
            <a:spLocks noGrp="1"/>
          </p:cNvSpPr>
          <p:nvPr>
            <p:ph type="subTitle" idx="1"/>
          </p:nvPr>
        </p:nvSpPr>
        <p:spPr>
          <a:xfrm>
            <a:off x="1218708" y="4069780"/>
            <a:ext cx="9781327" cy="2056617"/>
          </a:xfrm>
        </p:spPr>
        <p:txBody>
          <a:bodyPr anchor="t">
            <a:normAutofit/>
          </a:bodyPr>
          <a:lstStyle/>
          <a:p>
            <a:r>
              <a:rPr lang="en-US" sz="2200" dirty="0">
                <a:solidFill>
                  <a:srgbClr val="FFFFFF"/>
                </a:solidFill>
              </a:rPr>
              <a:t>				</a:t>
            </a:r>
            <a:r>
              <a:rPr lang="en-US" sz="2200" dirty="0">
                <a:solidFill>
                  <a:srgbClr val="FFFFFF"/>
                </a:solidFill>
                <a:latin typeface="Times New Roman" panose="02020603050405020304" pitchFamily="18" charset="0"/>
                <a:cs typeface="Times New Roman" panose="02020603050405020304" pitchFamily="18" charset="0"/>
              </a:rPr>
              <a:t>by </a:t>
            </a:r>
          </a:p>
          <a:p>
            <a:r>
              <a:rPr lang="en-US" sz="2200" dirty="0">
                <a:solidFill>
                  <a:srgbClr val="FFFFFF"/>
                </a:solidFill>
                <a:latin typeface="Times New Roman" panose="02020603050405020304" pitchFamily="18" charset="0"/>
                <a:cs typeface="Times New Roman" panose="02020603050405020304" pitchFamily="18" charset="0"/>
              </a:rPr>
              <a:t>						</a:t>
            </a:r>
            <a:r>
              <a:rPr lang="en-US" sz="2200" dirty="0" err="1">
                <a:solidFill>
                  <a:srgbClr val="FFFFFF"/>
                </a:solidFill>
                <a:latin typeface="Times New Roman" panose="02020603050405020304" pitchFamily="18" charset="0"/>
                <a:cs typeface="Times New Roman" panose="02020603050405020304" pitchFamily="18" charset="0"/>
              </a:rPr>
              <a:t>Ragamai</a:t>
            </a:r>
            <a:r>
              <a:rPr lang="en-US" sz="2200" dirty="0">
                <a:solidFill>
                  <a:srgbClr val="FFFFFF"/>
                </a:solidFill>
                <a:latin typeface="Times New Roman" panose="02020603050405020304" pitchFamily="18" charset="0"/>
                <a:cs typeface="Times New Roman" panose="02020603050405020304" pitchFamily="18" charset="0"/>
              </a:rPr>
              <a:t> </a:t>
            </a:r>
            <a:r>
              <a:rPr lang="en-US" sz="2200" dirty="0" err="1">
                <a:solidFill>
                  <a:srgbClr val="FFFFFF"/>
                </a:solidFill>
                <a:latin typeface="Times New Roman" panose="02020603050405020304" pitchFamily="18" charset="0"/>
                <a:cs typeface="Times New Roman" panose="02020603050405020304" pitchFamily="18" charset="0"/>
              </a:rPr>
              <a:t>kottapalli</a:t>
            </a:r>
            <a:r>
              <a:rPr lang="en-US" sz="2200" dirty="0">
                <a:solidFill>
                  <a:srgbClr val="FFFFFF"/>
                </a:solidFill>
                <a:latin typeface="Times New Roman" panose="02020603050405020304" pitchFamily="18" charset="0"/>
                <a:cs typeface="Times New Roman" panose="02020603050405020304" pitchFamily="18" charset="0"/>
              </a:rPr>
              <a:t>							             	            &amp;									Divya Guntupalli</a:t>
            </a:r>
          </a:p>
        </p:txBody>
      </p:sp>
      <p:grpSp>
        <p:nvGrpSpPr>
          <p:cNvPr id="126" name="Top Left">
            <a:extLst>
              <a:ext uri="{FF2B5EF4-FFF2-40B4-BE49-F238E27FC236}">
                <a16:creationId xmlns:a16="http://schemas.microsoft.com/office/drawing/2014/main" id="{18579DB9-24B0-487B-81E3-8D02AD5F8C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27" name="Freeform: Shape 126">
              <a:extLst>
                <a:ext uri="{FF2B5EF4-FFF2-40B4-BE49-F238E27FC236}">
                  <a16:creationId xmlns:a16="http://schemas.microsoft.com/office/drawing/2014/main" id="{7180CB2C-161F-4538-9214-24AF97B01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bg2">
                  <a:alpha val="50000"/>
                </a:schemeClr>
              </a:solidFill>
              <a:prstDash val="lgDash"/>
              <a:round/>
            </a:ln>
          </p:spPr>
          <p:txBody>
            <a:bodyPr rtlCol="0" anchor="ctr"/>
            <a:lstStyle/>
            <a:p>
              <a:endParaRPr lang="en-US"/>
            </a:p>
          </p:txBody>
        </p:sp>
        <p:sp>
          <p:nvSpPr>
            <p:cNvPr id="128" name="Freeform: Shape 127">
              <a:extLst>
                <a:ext uri="{FF2B5EF4-FFF2-40B4-BE49-F238E27FC236}">
                  <a16:creationId xmlns:a16="http://schemas.microsoft.com/office/drawing/2014/main" id="{EE25AFBE-8731-4348-B66F-FD7E38F76A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bg2">
                  <a:alpha val="50000"/>
                </a:schemeClr>
              </a:solidFill>
              <a:prstDash val="lgDash"/>
              <a:round/>
            </a:ln>
          </p:spPr>
          <p:txBody>
            <a:bodyPr rtlCol="0" anchor="ctr"/>
            <a:lstStyle/>
            <a:p>
              <a:endParaRPr lang="en-US"/>
            </a:p>
          </p:txBody>
        </p:sp>
        <p:sp>
          <p:nvSpPr>
            <p:cNvPr id="129" name="Freeform: Shape 128">
              <a:extLst>
                <a:ext uri="{FF2B5EF4-FFF2-40B4-BE49-F238E27FC236}">
                  <a16:creationId xmlns:a16="http://schemas.microsoft.com/office/drawing/2014/main" id="{5F6C27D8-4E47-470F-B6B5-407CE7D1D7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bg2">
                  <a:alpha val="50000"/>
                </a:schemeClr>
              </a:solidFill>
              <a:prstDash val="lgDash"/>
              <a:round/>
            </a:ln>
          </p:spPr>
          <p:txBody>
            <a:bodyPr rtlCol="0" anchor="ctr"/>
            <a:lstStyle/>
            <a:p>
              <a:endParaRPr lang="en-US"/>
            </a:p>
          </p:txBody>
        </p:sp>
        <p:sp>
          <p:nvSpPr>
            <p:cNvPr id="130" name="Freeform: Shape 129">
              <a:extLst>
                <a:ext uri="{FF2B5EF4-FFF2-40B4-BE49-F238E27FC236}">
                  <a16:creationId xmlns:a16="http://schemas.microsoft.com/office/drawing/2014/main" id="{66348964-B561-445E-A6A4-730FBA428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bg2">
                  <a:alpha val="50000"/>
                </a:schemeClr>
              </a:solidFill>
              <a:prstDash val="lgDash"/>
              <a:round/>
            </a:ln>
          </p:spPr>
          <p:txBody>
            <a:bodyPr rtlCol="0" anchor="ctr"/>
            <a:lstStyle/>
            <a:p>
              <a:endParaRPr lang="en-US"/>
            </a:p>
          </p:txBody>
        </p:sp>
        <p:sp>
          <p:nvSpPr>
            <p:cNvPr id="131" name="Freeform: Shape 130">
              <a:extLst>
                <a:ext uri="{FF2B5EF4-FFF2-40B4-BE49-F238E27FC236}">
                  <a16:creationId xmlns:a16="http://schemas.microsoft.com/office/drawing/2014/main" id="{C5D1A3FD-B031-4670-8F09-29E8E38D45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bg2">
                  <a:alpha val="50000"/>
                </a:schemeClr>
              </a:solidFill>
              <a:prstDash val="lgDash"/>
              <a:round/>
            </a:ln>
          </p:spPr>
          <p:txBody>
            <a:bodyPr rtlCol="0" anchor="ctr"/>
            <a:lstStyle/>
            <a:p>
              <a:endParaRPr lang="en-US"/>
            </a:p>
          </p:txBody>
        </p:sp>
        <p:sp>
          <p:nvSpPr>
            <p:cNvPr id="132" name="Freeform: Shape 131">
              <a:extLst>
                <a:ext uri="{FF2B5EF4-FFF2-40B4-BE49-F238E27FC236}">
                  <a16:creationId xmlns:a16="http://schemas.microsoft.com/office/drawing/2014/main" id="{80BD3287-1860-4987-8CA5-8728EDBB6B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bg2">
                  <a:alpha val="50000"/>
                </a:schemeClr>
              </a:solidFill>
              <a:prstDash val="lgDash"/>
              <a:round/>
            </a:ln>
          </p:spPr>
          <p:txBody>
            <a:bodyPr rtlCol="0" anchor="ctr"/>
            <a:lstStyle/>
            <a:p>
              <a:endParaRPr lang="en-US"/>
            </a:p>
          </p:txBody>
        </p:sp>
        <p:sp>
          <p:nvSpPr>
            <p:cNvPr id="133" name="Freeform: Shape 132">
              <a:extLst>
                <a:ext uri="{FF2B5EF4-FFF2-40B4-BE49-F238E27FC236}">
                  <a16:creationId xmlns:a16="http://schemas.microsoft.com/office/drawing/2014/main" id="{E1FEEEA6-82B5-4005-A3D5-FC2A152FDD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bg2">
                  <a:alpha val="50000"/>
                </a:schemeClr>
              </a:solidFill>
              <a:prstDash val="lgDash"/>
              <a:round/>
            </a:ln>
          </p:spPr>
          <p:txBody>
            <a:bodyPr rtlCol="0" anchor="ctr"/>
            <a:lstStyle/>
            <a:p>
              <a:endParaRPr lang="en-US" dirty="0"/>
            </a:p>
          </p:txBody>
        </p:sp>
      </p:grpSp>
      <p:grpSp>
        <p:nvGrpSpPr>
          <p:cNvPr id="135" name="Group 134">
            <a:extLst>
              <a:ext uri="{FF2B5EF4-FFF2-40B4-BE49-F238E27FC236}">
                <a16:creationId xmlns:a16="http://schemas.microsoft.com/office/drawing/2014/main" id="{5C0E6139-8A19-4905-87E2-E547D7B7F1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23216" y="3924272"/>
            <a:ext cx="118872" cy="118872"/>
            <a:chOff x="1175347" y="3733800"/>
            <a:chExt cx="118872" cy="118872"/>
          </a:xfrm>
        </p:grpSpPr>
        <p:cxnSp>
          <p:nvCxnSpPr>
            <p:cNvPr id="136" name="Straight Connector 135">
              <a:extLst>
                <a:ext uri="{FF2B5EF4-FFF2-40B4-BE49-F238E27FC236}">
                  <a16:creationId xmlns:a16="http://schemas.microsoft.com/office/drawing/2014/main" id="{BC05FFBD-B86A-4BD3-A147-FA95CE03CF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137" name="Straight Connector 136">
              <a:extLst>
                <a:ext uri="{FF2B5EF4-FFF2-40B4-BE49-F238E27FC236}">
                  <a16:creationId xmlns:a16="http://schemas.microsoft.com/office/drawing/2014/main" id="{EB69F8B1-78FB-4562-8A0D-8D29636755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grpSp>
        <p:nvGrpSpPr>
          <p:cNvPr id="139" name="Bottom Right">
            <a:extLst>
              <a:ext uri="{FF2B5EF4-FFF2-40B4-BE49-F238E27FC236}">
                <a16:creationId xmlns:a16="http://schemas.microsoft.com/office/drawing/2014/main" id="{8F281804-17FE-49B9-9065-1A44CD473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140" name="Graphic 157">
              <a:extLst>
                <a:ext uri="{FF2B5EF4-FFF2-40B4-BE49-F238E27FC236}">
                  <a16:creationId xmlns:a16="http://schemas.microsoft.com/office/drawing/2014/main" id="{737BB70B-7AAF-4229-8400-5AFF12A2367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142" name="Freeform: Shape 141">
                <a:extLst>
                  <a:ext uri="{FF2B5EF4-FFF2-40B4-BE49-F238E27FC236}">
                    <a16:creationId xmlns:a16="http://schemas.microsoft.com/office/drawing/2014/main" id="{9B992201-AA48-4BE7-ADC2-908B16934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bg2">
                    <a:alpha val="35000"/>
                  </a:schemeClr>
                </a:solidFill>
                <a:prstDash val="lgDash"/>
                <a:round/>
              </a:ln>
            </p:spPr>
            <p:txBody>
              <a:bodyPr rtlCol="0" anchor="ctr"/>
              <a:lstStyle/>
              <a:p>
                <a:endParaRPr lang="en-US"/>
              </a:p>
            </p:txBody>
          </p:sp>
          <p:sp>
            <p:nvSpPr>
              <p:cNvPr id="143" name="Freeform: Shape 142">
                <a:extLst>
                  <a:ext uri="{FF2B5EF4-FFF2-40B4-BE49-F238E27FC236}">
                    <a16:creationId xmlns:a16="http://schemas.microsoft.com/office/drawing/2014/main" id="{840E3649-4ED2-4501-AF92-DEC3DFF5C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bg2">
                    <a:alpha val="35000"/>
                  </a:schemeClr>
                </a:solidFill>
                <a:prstDash val="lgDash"/>
                <a:round/>
              </a:ln>
            </p:spPr>
            <p:txBody>
              <a:bodyPr rtlCol="0" anchor="ctr"/>
              <a:lstStyle/>
              <a:p>
                <a:endParaRPr lang="en-US"/>
              </a:p>
            </p:txBody>
          </p:sp>
          <p:sp>
            <p:nvSpPr>
              <p:cNvPr id="144" name="Freeform: Shape 143">
                <a:extLst>
                  <a:ext uri="{FF2B5EF4-FFF2-40B4-BE49-F238E27FC236}">
                    <a16:creationId xmlns:a16="http://schemas.microsoft.com/office/drawing/2014/main" id="{68B38FD5-4195-4693-8AB7-D01C58D21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bg2">
                    <a:alpha val="35000"/>
                  </a:schemeClr>
                </a:solidFill>
                <a:prstDash val="lgDash"/>
                <a:round/>
              </a:ln>
            </p:spPr>
            <p:txBody>
              <a:bodyPr rtlCol="0" anchor="ctr"/>
              <a:lstStyle/>
              <a:p>
                <a:endParaRPr lang="en-US"/>
              </a:p>
            </p:txBody>
          </p:sp>
          <p:sp>
            <p:nvSpPr>
              <p:cNvPr id="145" name="Freeform: Shape 144">
                <a:extLst>
                  <a:ext uri="{FF2B5EF4-FFF2-40B4-BE49-F238E27FC236}">
                    <a16:creationId xmlns:a16="http://schemas.microsoft.com/office/drawing/2014/main" id="{F0635352-3FD2-43A8-832C-705F1CB91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bg2">
                    <a:alpha val="35000"/>
                  </a:schemeClr>
                </a:solidFill>
                <a:prstDash val="lgDash"/>
                <a:round/>
              </a:ln>
            </p:spPr>
            <p:txBody>
              <a:bodyPr rtlCol="0" anchor="ctr"/>
              <a:lstStyle/>
              <a:p>
                <a:endParaRPr lang="en-US"/>
              </a:p>
            </p:txBody>
          </p:sp>
          <p:sp>
            <p:nvSpPr>
              <p:cNvPr id="146" name="Freeform: Shape 145">
                <a:extLst>
                  <a:ext uri="{FF2B5EF4-FFF2-40B4-BE49-F238E27FC236}">
                    <a16:creationId xmlns:a16="http://schemas.microsoft.com/office/drawing/2014/main" id="{FBEAF61E-74F7-41BA-9576-39B1961501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bg2">
                    <a:alpha val="35000"/>
                  </a:schemeClr>
                </a:solidFill>
                <a:prstDash val="lgDash"/>
                <a:round/>
              </a:ln>
            </p:spPr>
            <p:txBody>
              <a:bodyPr rtlCol="0" anchor="ctr"/>
              <a:lstStyle/>
              <a:p>
                <a:endParaRPr lang="en-US"/>
              </a:p>
            </p:txBody>
          </p:sp>
          <p:sp>
            <p:nvSpPr>
              <p:cNvPr id="147" name="Freeform: Shape 146">
                <a:extLst>
                  <a:ext uri="{FF2B5EF4-FFF2-40B4-BE49-F238E27FC236}">
                    <a16:creationId xmlns:a16="http://schemas.microsoft.com/office/drawing/2014/main" id="{AB31D9B5-1401-4F40-BEE6-D49291995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bg2">
                    <a:alpha val="35000"/>
                  </a:schemeClr>
                </a:solidFill>
                <a:prstDash val="lgDash"/>
                <a:round/>
              </a:ln>
            </p:spPr>
            <p:txBody>
              <a:bodyPr rtlCol="0" anchor="ctr"/>
              <a:lstStyle/>
              <a:p>
                <a:endParaRPr lang="en-US"/>
              </a:p>
            </p:txBody>
          </p:sp>
          <p:sp>
            <p:nvSpPr>
              <p:cNvPr id="148" name="Freeform: Shape 147">
                <a:extLst>
                  <a:ext uri="{FF2B5EF4-FFF2-40B4-BE49-F238E27FC236}">
                    <a16:creationId xmlns:a16="http://schemas.microsoft.com/office/drawing/2014/main" id="{8EDD38F5-BC63-401D-8C72-8D41A360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bg2">
                    <a:alpha val="35000"/>
                  </a:schemeClr>
                </a:solidFill>
                <a:prstDash val="lgDash"/>
                <a:round/>
              </a:ln>
            </p:spPr>
            <p:txBody>
              <a:bodyPr rtlCol="0" anchor="ctr"/>
              <a:lstStyle/>
              <a:p>
                <a:endParaRPr lang="en-US"/>
              </a:p>
            </p:txBody>
          </p:sp>
        </p:grpSp>
        <p:sp>
          <p:nvSpPr>
            <p:cNvPr id="141" name="Freeform: Shape 140">
              <a:extLst>
                <a:ext uri="{FF2B5EF4-FFF2-40B4-BE49-F238E27FC236}">
                  <a16:creationId xmlns:a16="http://schemas.microsoft.com/office/drawing/2014/main" id="{05CE5B18-7300-438F-80EB-4F4E431C8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52166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BE376-A87C-59B0-B98E-7E57332E3049}"/>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84CF39B1-D6D8-4EFE-B378-C8B554610495}"/>
              </a:ext>
            </a:extLst>
          </p:cNvPr>
          <p:cNvSpPr>
            <a:spLocks noGrp="1"/>
          </p:cNvSpPr>
          <p:nvPr>
            <p:ph idx="1"/>
          </p:nvPr>
        </p:nvSpPr>
        <p:spPr>
          <a:xfrm>
            <a:off x="117987" y="1825625"/>
            <a:ext cx="11828207" cy="4351338"/>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To improve patient outcomes, allocate resources as effectively as possible, and reduce preventable deaths, it is crucial to forecast in-hospital mortality after elective surgery.  Using preoperative, intraoperative, and postoperative data, this study aims to develop a predictive model that assesses patient risk using machine learning methods.  A dataset that includes hospital performance evaluations and patient records is used to evaluate how well various predictive algorithms identify high-risk patients.  The study compares a number of machine learning algorithms and highlights the models that perform the best in terms of mortality prediction.  The results can be used to inform clinical decisions and enhance postoperative care practices</a:t>
            </a:r>
            <a:r>
              <a:rPr lang="en-US" sz="2000" dirty="0"/>
              <a:t>. Using a dataset of patient records and hospital performance ratings, we apply a variety of machine learning models, including Random Forest, Logistic Regression, Support Vector Machine (SVM), Decision Tree, Neural Networks, and gradient boosting machines.  These models are compared based on their predicted accuracy, interpretability, and ability to handle unbalanced data.  The findings help physicians identify high-risk patients early and improve postoperative outcomes. </a:t>
            </a:r>
          </a:p>
          <a:p>
            <a:pPr marL="0" indent="0">
              <a:buNone/>
            </a:pPr>
            <a:endParaRPr lang="en-US" sz="2000" dirty="0"/>
          </a:p>
        </p:txBody>
      </p:sp>
    </p:spTree>
    <p:extLst>
      <p:ext uri="{BB962C8B-B14F-4D97-AF65-F5344CB8AC3E}">
        <p14:creationId xmlns:p14="http://schemas.microsoft.com/office/powerpoint/2010/main" val="3659230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3CB26-B33F-A13B-CBB9-380FECAF14A0}"/>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6E491A30-863A-FEFF-99F4-24FBD0E88FE7}"/>
              </a:ext>
            </a:extLst>
          </p:cNvPr>
          <p:cNvSpPr>
            <a:spLocks noGrp="1"/>
          </p:cNvSpPr>
          <p:nvPr>
            <p:ph idx="1"/>
          </p:nvPr>
        </p:nvSpPr>
        <p:spPr>
          <a:xfrm>
            <a:off x="191729" y="1825625"/>
            <a:ext cx="11547987" cy="4351338"/>
          </a:xfrm>
        </p:spPr>
        <p:txBody>
          <a:bodyPr/>
          <a:lstStyle/>
          <a:p>
            <a:pPr marL="0" indent="0">
              <a:buNone/>
            </a:pPr>
            <a:r>
              <a:rPr lang="en-US" sz="2000" dirty="0">
                <a:latin typeface="Times New Roman" panose="02020603050405020304" pitchFamily="18" charset="0"/>
                <a:cs typeface="Times New Roman" panose="02020603050405020304" pitchFamily="18" charset="0"/>
              </a:rPr>
              <a:t>In-hospital mortality after elective surgery remains a serious concern despite advancements in medical practices and surgical techniques.  Early detection of a patient's increased risk of death can lead to better patient survival rates, fewer complications, and timely therapies.  However, traditional methods of evaluating risk are often imprecise and fail to recognize complex relationships in patient information.  This study intends to develop and evaluate machine learning models that can accurately predict in-hospital mortality using significant clinical and demographic data</a:t>
            </a:r>
            <a:r>
              <a:rPr lang="en-US" sz="2000" dirty="0"/>
              <a:t>.</a:t>
            </a:r>
          </a:p>
          <a:p>
            <a:pPr marL="0" indent="0">
              <a:buNone/>
            </a:pPr>
            <a:endParaRPr lang="en-US" dirty="0"/>
          </a:p>
        </p:txBody>
      </p:sp>
    </p:spTree>
    <p:extLst>
      <p:ext uri="{BB962C8B-B14F-4D97-AF65-F5344CB8AC3E}">
        <p14:creationId xmlns:p14="http://schemas.microsoft.com/office/powerpoint/2010/main" val="3641852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52037-556A-E395-1822-F04427EAF6AC}"/>
              </a:ext>
            </a:extLst>
          </p:cNvPr>
          <p:cNvSpPr>
            <a:spLocks noGrp="1"/>
          </p:cNvSpPr>
          <p:nvPr>
            <p:ph type="title"/>
          </p:nvPr>
        </p:nvSpPr>
        <p:spPr/>
        <p:txBody>
          <a:bodyPr/>
          <a:lstStyle/>
          <a:p>
            <a:r>
              <a:rPr lang="en-US" dirty="0"/>
              <a:t>DATASET OVERVIEW</a:t>
            </a:r>
          </a:p>
        </p:txBody>
      </p:sp>
      <p:sp>
        <p:nvSpPr>
          <p:cNvPr id="3" name="Content Placeholder 2">
            <a:extLst>
              <a:ext uri="{FF2B5EF4-FFF2-40B4-BE49-F238E27FC236}">
                <a16:creationId xmlns:a16="http://schemas.microsoft.com/office/drawing/2014/main" id="{3FF4E48D-E955-D021-A7D1-6770A82954F2}"/>
              </a:ext>
            </a:extLst>
          </p:cNvPr>
          <p:cNvSpPr>
            <a:spLocks noGrp="1"/>
          </p:cNvSpPr>
          <p:nvPr>
            <p:ph idx="1"/>
          </p:nvPr>
        </p:nvSpPr>
        <p:spPr>
          <a:xfrm>
            <a:off x="838200" y="2300747"/>
            <a:ext cx="10739284" cy="2890685"/>
          </a:xfrm>
        </p:spPr>
        <p:txBody>
          <a:bodyPr>
            <a:normAutofit/>
          </a:bodyPr>
          <a:lstStyle/>
          <a:p>
            <a:pPr marL="0" indent="0">
              <a:buNone/>
            </a:pPr>
            <a:r>
              <a:rPr lang="en-IN" sz="2000" b="0" i="0" u="none" strike="noStrike" dirty="0">
                <a:solidFill>
                  <a:srgbClr val="000000"/>
                </a:solidFill>
                <a:effectLst/>
                <a:latin typeface="Times New Roman" panose="02020603050405020304" pitchFamily="18" charset="0"/>
              </a:rPr>
              <a:t>The dataset used in this project is the California inpatient mortality rates and quality ratings. It contains information about various hospitals across California, including mortality rates, number of deaths and cases, procedures/conditions that were treated, and the overall hospital quality ratings </a:t>
            </a:r>
            <a:endParaRPr lang="en-US" sz="2000" dirty="0"/>
          </a:p>
        </p:txBody>
      </p:sp>
    </p:spTree>
    <p:extLst>
      <p:ext uri="{BB962C8B-B14F-4D97-AF65-F5344CB8AC3E}">
        <p14:creationId xmlns:p14="http://schemas.microsoft.com/office/powerpoint/2010/main" val="1692209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75566-14DE-7724-540C-4270DA752516}"/>
              </a:ext>
            </a:extLst>
          </p:cNvPr>
          <p:cNvSpPr>
            <a:spLocks noGrp="1"/>
          </p:cNvSpPr>
          <p:nvPr>
            <p:ph type="title"/>
          </p:nvPr>
        </p:nvSpPr>
        <p:spPr/>
        <p:txBody>
          <a:bodyPr/>
          <a:lstStyle/>
          <a:p>
            <a:r>
              <a:rPr lang="en-US" dirty="0"/>
              <a:t>Literature Review &amp; Introduction</a:t>
            </a:r>
          </a:p>
        </p:txBody>
      </p:sp>
      <p:sp>
        <p:nvSpPr>
          <p:cNvPr id="3" name="Content Placeholder 2">
            <a:extLst>
              <a:ext uri="{FF2B5EF4-FFF2-40B4-BE49-F238E27FC236}">
                <a16:creationId xmlns:a16="http://schemas.microsoft.com/office/drawing/2014/main" id="{80A98D0B-AD45-567F-9EEC-CF1D8F66BC77}"/>
              </a:ext>
            </a:extLst>
          </p:cNvPr>
          <p:cNvSpPr>
            <a:spLocks noGrp="1"/>
          </p:cNvSpPr>
          <p:nvPr>
            <p:ph idx="1"/>
          </p:nvPr>
        </p:nvSpPr>
        <p:spPr>
          <a:xfrm>
            <a:off x="604685" y="1825625"/>
            <a:ext cx="11090786" cy="4351338"/>
          </a:xfrm>
        </p:spPr>
        <p:txBody>
          <a:bodyPr>
            <a:normAutofit/>
          </a:bodyPr>
          <a:lstStyle/>
          <a:p>
            <a:pPr marL="0" indent="0">
              <a:lnSpc>
                <a:spcPct val="100000"/>
              </a:lnSpc>
              <a:buNone/>
            </a:pPr>
            <a:r>
              <a:rPr lang="en-US" sz="2200" dirty="0">
                <a:latin typeface="Times New Roman" panose="02020603050405020304" pitchFamily="18" charset="0"/>
                <a:cs typeface="Times New Roman" panose="02020603050405020304" pitchFamily="18" charset="0"/>
              </a:rPr>
              <a:t>Clinical outcomes, operational efficiency, and patient satisfaction are all included in hospital performance ratings, which are essential indicators of the standard of medical care.  Previous studies highlight the role that performance metrics play in guiding healthcare policy, improving patient care, and enabling hospital comparisons.  Research shows that ratings' transparency can increase accountability, despite persistent problems with inconsistent methodology and data reliability.</a:t>
            </a:r>
          </a:p>
          <a:p>
            <a:pPr marL="0" indent="0">
              <a:buNone/>
            </a:pPr>
            <a:r>
              <a:rPr lang="en-US" sz="2200" dirty="0">
                <a:latin typeface="Times New Roman" panose="02020603050405020304" pitchFamily="18" charset="0"/>
                <a:cs typeface="Times New Roman" panose="02020603050405020304" pitchFamily="18" charset="0"/>
              </a:rPr>
              <a:t>This study looks at hospital performance ratings in California to assess key quality indicators and find trends that impact patient outcomes.  By using the data currently available, it aims to identify the region's strengths, weaknesses, and opportunities for improving healthcare delivery.</a:t>
            </a:r>
          </a:p>
          <a:p>
            <a:pPr marL="0" indent="0">
              <a:buNone/>
            </a:pPr>
            <a:endParaRPr lang="en-US" sz="2200"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780829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8894C-2150-8F9D-900A-81F7958F8CD2}"/>
              </a:ext>
            </a:extLst>
          </p:cNvPr>
          <p:cNvSpPr>
            <a:spLocks noGrp="1"/>
          </p:cNvSpPr>
          <p:nvPr>
            <p:ph type="title"/>
          </p:nvPr>
        </p:nvSpPr>
        <p:spPr/>
        <p:txBody>
          <a:bodyPr/>
          <a:lstStyle/>
          <a:p>
            <a:r>
              <a:rPr lang="en-US"/>
              <a:t>High Level Architecture</a:t>
            </a:r>
            <a:endParaRPr lang="en-US" dirty="0"/>
          </a:p>
        </p:txBody>
      </p:sp>
      <p:pic>
        <p:nvPicPr>
          <p:cNvPr id="4" name="Content Placeholder 3" descr="A diagram of a data processing process&#10;&#10;AI-generated content may be incorrect.">
            <a:extLst>
              <a:ext uri="{FF2B5EF4-FFF2-40B4-BE49-F238E27FC236}">
                <a16:creationId xmlns:a16="http://schemas.microsoft.com/office/drawing/2014/main" id="{809EA6F8-A75D-E204-1D2D-29CFC99279CD}"/>
              </a:ext>
            </a:extLst>
          </p:cNvPr>
          <p:cNvPicPr>
            <a:picLocks noGrp="1" noChangeAspect="1"/>
          </p:cNvPicPr>
          <p:nvPr>
            <p:ph idx="1"/>
          </p:nvPr>
        </p:nvPicPr>
        <p:blipFill>
          <a:blip r:embed="rId2"/>
          <a:stretch>
            <a:fillRect/>
          </a:stretch>
        </p:blipFill>
        <p:spPr>
          <a:xfrm>
            <a:off x="4165600" y="1405468"/>
            <a:ext cx="3380846" cy="5452532"/>
          </a:xfrm>
        </p:spPr>
      </p:pic>
    </p:spTree>
    <p:extLst>
      <p:ext uri="{BB962C8B-B14F-4D97-AF65-F5344CB8AC3E}">
        <p14:creationId xmlns:p14="http://schemas.microsoft.com/office/powerpoint/2010/main" val="554002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3" name="Rectangle 192">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94" name="Freeform: Shape 139">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95" name="Freeform: Shape 141">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96" name="Freeform: Shape 143">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97"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98" name="Freeform: Shape 146">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99" name="Freeform: Shape 147">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0" name="Freeform: Shape 148">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01" name="Freeform: Shape 149">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2" name="Freeform: Shape 150">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03" name="Freeform: Shape 151">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04" name="Freeform: Shape 152">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05"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06" name="Freeform: Shape 155">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7" name="Freeform: Shape 156">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8" name="Freeform: Shape 157">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9" name="Freeform: Shape 158">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0" name="Freeform: Shape 159">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1" name="Freeform: Shape 160">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2" name="Freeform: Shape 161">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213" name="Rectangle 212">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14" name="Rectangle 213">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15" name="Top left">
            <a:extLst>
              <a:ext uri="{FF2B5EF4-FFF2-40B4-BE49-F238E27FC236}">
                <a16:creationId xmlns:a16="http://schemas.microsoft.com/office/drawing/2014/main" id="{E4A71F22-0E43-4930-8185-0D8C173634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69" name="Freeform: Shape 168">
              <a:extLst>
                <a:ext uri="{FF2B5EF4-FFF2-40B4-BE49-F238E27FC236}">
                  <a16:creationId xmlns:a16="http://schemas.microsoft.com/office/drawing/2014/main" id="{E337B2BE-9368-41E7-B9D3-4F1F971F94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16" name="Freeform: Shape 169">
              <a:extLst>
                <a:ext uri="{FF2B5EF4-FFF2-40B4-BE49-F238E27FC236}">
                  <a16:creationId xmlns:a16="http://schemas.microsoft.com/office/drawing/2014/main" id="{C7EDF3EA-3138-4266-8511-D57CECF0A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217" name="Freeform: Shape 170">
              <a:extLst>
                <a:ext uri="{FF2B5EF4-FFF2-40B4-BE49-F238E27FC236}">
                  <a16:creationId xmlns:a16="http://schemas.microsoft.com/office/drawing/2014/main" id="{EA12DCF8-5403-4AA2-818F-2DF853DC1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218" name="Freeform: Shape 171">
              <a:extLst>
                <a:ext uri="{FF2B5EF4-FFF2-40B4-BE49-F238E27FC236}">
                  <a16:creationId xmlns:a16="http://schemas.microsoft.com/office/drawing/2014/main" id="{AD89B414-72F6-4409-A12B-4F23F1CE0F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219" name="Freeform: Shape 172">
              <a:extLst>
                <a:ext uri="{FF2B5EF4-FFF2-40B4-BE49-F238E27FC236}">
                  <a16:creationId xmlns:a16="http://schemas.microsoft.com/office/drawing/2014/main" id="{214BA161-43C1-4B9D-A341-694B88127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20" name="Freeform: Shape 173">
              <a:extLst>
                <a:ext uri="{FF2B5EF4-FFF2-40B4-BE49-F238E27FC236}">
                  <a16:creationId xmlns:a16="http://schemas.microsoft.com/office/drawing/2014/main" id="{B211E8CC-9B3E-4E58-821A-069B7C109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21" name="Freeform: Shape 174">
              <a:extLst>
                <a:ext uri="{FF2B5EF4-FFF2-40B4-BE49-F238E27FC236}">
                  <a16:creationId xmlns:a16="http://schemas.microsoft.com/office/drawing/2014/main" id="{B29FA542-0294-4239-B976-E5D20656C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2" name="Freeform: Shape 175">
              <a:extLst>
                <a:ext uri="{FF2B5EF4-FFF2-40B4-BE49-F238E27FC236}">
                  <a16:creationId xmlns:a16="http://schemas.microsoft.com/office/drawing/2014/main" id="{EA9045A3-208C-4023-9F44-D62234135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2DE719F1-B95F-CA07-34F8-3BDF27CCA738}"/>
              </a:ext>
            </a:extLst>
          </p:cNvPr>
          <p:cNvSpPr>
            <a:spLocks noGrp="1"/>
          </p:cNvSpPr>
          <p:nvPr>
            <p:ph type="title"/>
          </p:nvPr>
        </p:nvSpPr>
        <p:spPr>
          <a:xfrm>
            <a:off x="996275" y="163351"/>
            <a:ext cx="8740389" cy="1562520"/>
          </a:xfrm>
        </p:spPr>
        <p:txBody>
          <a:bodyPr vert="horz" lIns="91440" tIns="45720" rIns="91440" bIns="45720" rtlCol="0" anchor="ctr">
            <a:normAutofit fontScale="90000"/>
          </a:bodyPr>
          <a:lstStyle/>
          <a:p>
            <a:r>
              <a:rPr lang="en-US" sz="5400" kern="1200" dirty="0">
                <a:solidFill>
                  <a:schemeClr val="tx2"/>
                </a:solidFill>
                <a:latin typeface="+mj-lt"/>
                <a:ea typeface="+mj-ea"/>
                <a:cs typeface="+mj-cs"/>
              </a:rPr>
              <a:t>GNATT CHART TIMELINE</a:t>
            </a:r>
          </a:p>
        </p:txBody>
      </p:sp>
      <p:grpSp>
        <p:nvGrpSpPr>
          <p:cNvPr id="178" name="Cross">
            <a:extLst>
              <a:ext uri="{FF2B5EF4-FFF2-40B4-BE49-F238E27FC236}">
                <a16:creationId xmlns:a16="http://schemas.microsoft.com/office/drawing/2014/main" id="{1EDF0462-C0C2-4E84-A7EA-8EE60CEFF6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223" name="Straight Connector 222">
              <a:extLst>
                <a:ext uri="{FF2B5EF4-FFF2-40B4-BE49-F238E27FC236}">
                  <a16:creationId xmlns:a16="http://schemas.microsoft.com/office/drawing/2014/main" id="{DD5894EA-1641-49CE-AE6E-B9522736A0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180" name="Straight Connector 179">
              <a:extLst>
                <a:ext uri="{FF2B5EF4-FFF2-40B4-BE49-F238E27FC236}">
                  <a16:creationId xmlns:a16="http://schemas.microsoft.com/office/drawing/2014/main" id="{8C6415EB-8C9A-4F1B-A459-64B94A8651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5" name="Content Placeholder 4" descr="A screenshot of a computer screen&#10;&#10;AI-generated content may be incorrect.">
            <a:extLst>
              <a:ext uri="{FF2B5EF4-FFF2-40B4-BE49-F238E27FC236}">
                <a16:creationId xmlns:a16="http://schemas.microsoft.com/office/drawing/2014/main" id="{7244D2CD-D961-51C4-A338-E754B49F4FB6}"/>
              </a:ext>
            </a:extLst>
          </p:cNvPr>
          <p:cNvPicPr>
            <a:picLocks noChangeAspect="1"/>
          </p:cNvPicPr>
          <p:nvPr/>
        </p:nvPicPr>
        <p:blipFill>
          <a:blip r:embed="rId2"/>
          <a:srcRect r="2672" b="1"/>
          <a:stretch/>
        </p:blipFill>
        <p:spPr>
          <a:xfrm>
            <a:off x="-705083" y="1330817"/>
            <a:ext cx="9608300" cy="4783836"/>
          </a:xfrm>
          <a:prstGeom prst="rect">
            <a:avLst/>
          </a:prstGeom>
        </p:spPr>
      </p:pic>
      <p:grpSp>
        <p:nvGrpSpPr>
          <p:cNvPr id="224" name="Bottom Right">
            <a:extLst>
              <a:ext uri="{FF2B5EF4-FFF2-40B4-BE49-F238E27FC236}">
                <a16:creationId xmlns:a16="http://schemas.microsoft.com/office/drawing/2014/main" id="{B798A610-8506-4BC1-8108-8E1A31CAB8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25" name="Freeform: Shape 182">
              <a:extLst>
                <a:ext uri="{FF2B5EF4-FFF2-40B4-BE49-F238E27FC236}">
                  <a16:creationId xmlns:a16="http://schemas.microsoft.com/office/drawing/2014/main" id="{5C72D714-A610-482A-B26E-C679E9535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26" name="Graphic 157">
              <a:extLst>
                <a:ext uri="{FF2B5EF4-FFF2-40B4-BE49-F238E27FC236}">
                  <a16:creationId xmlns:a16="http://schemas.microsoft.com/office/drawing/2014/main" id="{D7EF30A6-8E6C-417A-B645-4EC7F0B3824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27" name="Freeform: Shape 185">
                <a:extLst>
                  <a:ext uri="{FF2B5EF4-FFF2-40B4-BE49-F238E27FC236}">
                    <a16:creationId xmlns:a16="http://schemas.microsoft.com/office/drawing/2014/main" id="{17D377E0-C3CC-48DC-B73B-09CEEDE39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28" name="Freeform: Shape 186">
                <a:extLst>
                  <a:ext uri="{FF2B5EF4-FFF2-40B4-BE49-F238E27FC236}">
                    <a16:creationId xmlns:a16="http://schemas.microsoft.com/office/drawing/2014/main" id="{80E2DF20-A9FD-4B82-8673-1091B4C008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29" name="Freeform: Shape 187">
                <a:extLst>
                  <a:ext uri="{FF2B5EF4-FFF2-40B4-BE49-F238E27FC236}">
                    <a16:creationId xmlns:a16="http://schemas.microsoft.com/office/drawing/2014/main" id="{2425BAEB-7B00-4394-8302-CF2DEA744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189" name="Freeform: Shape 188">
                <a:extLst>
                  <a:ext uri="{FF2B5EF4-FFF2-40B4-BE49-F238E27FC236}">
                    <a16:creationId xmlns:a16="http://schemas.microsoft.com/office/drawing/2014/main" id="{4917EE8E-E8BC-42F3-BEE3-2F84E8F64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90" name="Freeform: Shape 189">
                <a:extLst>
                  <a:ext uri="{FF2B5EF4-FFF2-40B4-BE49-F238E27FC236}">
                    <a16:creationId xmlns:a16="http://schemas.microsoft.com/office/drawing/2014/main" id="{B8647303-59FF-4A2B-8D6D-FB229E659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91" name="Freeform: Shape 190">
                <a:extLst>
                  <a:ext uri="{FF2B5EF4-FFF2-40B4-BE49-F238E27FC236}">
                    <a16:creationId xmlns:a16="http://schemas.microsoft.com/office/drawing/2014/main" id="{7BD597AB-C6D9-437D-BBFE-8007D4ED0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92" name="Freeform: Shape 191">
                <a:extLst>
                  <a:ext uri="{FF2B5EF4-FFF2-40B4-BE49-F238E27FC236}">
                    <a16:creationId xmlns:a16="http://schemas.microsoft.com/office/drawing/2014/main" id="{4FA09AC9-DA2A-4216-BBFD-96E701FB8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30" name="Freeform: Shape 184">
              <a:extLst>
                <a:ext uri="{FF2B5EF4-FFF2-40B4-BE49-F238E27FC236}">
                  <a16:creationId xmlns:a16="http://schemas.microsoft.com/office/drawing/2014/main" id="{A8AD4A98-C6D7-49C8-A31E-29C6DB7C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774329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254C-F3E7-0775-84C2-D3A687B5D0E2}"/>
              </a:ext>
            </a:extLst>
          </p:cNvPr>
          <p:cNvSpPr>
            <a:spLocks noGrp="1"/>
          </p:cNvSpPr>
          <p:nvPr>
            <p:ph type="title"/>
          </p:nvPr>
        </p:nvSpPr>
        <p:spPr>
          <a:xfrm>
            <a:off x="0" y="365126"/>
            <a:ext cx="10264877" cy="637765"/>
          </a:xfrm>
        </p:spPr>
        <p:txBody>
          <a:bodyPr>
            <a:normAutofit fontScale="90000"/>
          </a:bodyPr>
          <a:lstStyle/>
          <a:p>
            <a:r>
              <a:rPr lang="en-US" dirty="0"/>
              <a:t>Exploratory Data Analysis[EDA]</a:t>
            </a:r>
          </a:p>
        </p:txBody>
      </p:sp>
      <p:pic>
        <p:nvPicPr>
          <p:cNvPr id="5" name="Content Placeholder 4" descr="A screenshot of a computer&#10;&#10;AI-generated content may be incorrect.">
            <a:extLst>
              <a:ext uri="{FF2B5EF4-FFF2-40B4-BE49-F238E27FC236}">
                <a16:creationId xmlns:a16="http://schemas.microsoft.com/office/drawing/2014/main" id="{8BF43F8B-2EA7-7B5F-E9D5-C41FCA5E5341}"/>
              </a:ext>
            </a:extLst>
          </p:cNvPr>
          <p:cNvPicPr>
            <a:picLocks noGrp="1" noChangeAspect="1"/>
          </p:cNvPicPr>
          <p:nvPr>
            <p:ph idx="1"/>
          </p:nvPr>
        </p:nvPicPr>
        <p:blipFill>
          <a:blip r:embed="rId2"/>
          <a:stretch>
            <a:fillRect/>
          </a:stretch>
        </p:blipFill>
        <p:spPr>
          <a:xfrm>
            <a:off x="167151" y="1121424"/>
            <a:ext cx="7470326" cy="4351338"/>
          </a:xfrm>
        </p:spPr>
      </p:pic>
      <p:graphicFrame>
        <p:nvGraphicFramePr>
          <p:cNvPr id="8" name="TextBox 5">
            <a:extLst>
              <a:ext uri="{FF2B5EF4-FFF2-40B4-BE49-F238E27FC236}">
                <a16:creationId xmlns:a16="http://schemas.microsoft.com/office/drawing/2014/main" id="{F2C9BB89-19A7-B378-92E2-59E80AD7454C}"/>
              </a:ext>
            </a:extLst>
          </p:cNvPr>
          <p:cNvGraphicFramePr/>
          <p:nvPr>
            <p:extLst>
              <p:ext uri="{D42A27DB-BD31-4B8C-83A1-F6EECF244321}">
                <p14:modId xmlns:p14="http://schemas.microsoft.com/office/powerpoint/2010/main" val="3778057908"/>
              </p:ext>
            </p:extLst>
          </p:nvPr>
        </p:nvGraphicFramePr>
        <p:xfrm>
          <a:off x="7804628" y="1002891"/>
          <a:ext cx="3994082" cy="54899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76478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Rectangle 1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8" name="Top left">
            <a:extLst>
              <a:ext uri="{FF2B5EF4-FFF2-40B4-BE49-F238E27FC236}">
                <a16:creationId xmlns:a16="http://schemas.microsoft.com/office/drawing/2014/main" id="{D4ED21F2-92DE-4312-8DBE-C137E2A19E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9" name="Freeform: Shape 18">
              <a:extLst>
                <a:ext uri="{FF2B5EF4-FFF2-40B4-BE49-F238E27FC236}">
                  <a16:creationId xmlns:a16="http://schemas.microsoft.com/office/drawing/2014/main" id="{AF87C1C3-17AE-4E8E-92D1-9D9478E5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0" name="Freeform: Shape 19">
              <a:extLst>
                <a:ext uri="{FF2B5EF4-FFF2-40B4-BE49-F238E27FC236}">
                  <a16:creationId xmlns:a16="http://schemas.microsoft.com/office/drawing/2014/main" id="{78317897-0579-4C54-A2C9-1D9E6CFE78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DB10D173-E475-4E91-9B9D-38FB26902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8DFA5031-46E4-4B54-B410-B2C45429DF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Freeform: Shape 22">
              <a:extLst>
                <a:ext uri="{FF2B5EF4-FFF2-40B4-BE49-F238E27FC236}">
                  <a16:creationId xmlns:a16="http://schemas.microsoft.com/office/drawing/2014/main" id="{18470EC3-8E74-4E72-84DE-D86003D2F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4" name="Freeform: Shape 23">
              <a:extLst>
                <a:ext uri="{FF2B5EF4-FFF2-40B4-BE49-F238E27FC236}">
                  <a16:creationId xmlns:a16="http://schemas.microsoft.com/office/drawing/2014/main" id="{31803245-48A5-47F5-9F36-BA72818ED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Freeform: Shape 24">
              <a:extLst>
                <a:ext uri="{FF2B5EF4-FFF2-40B4-BE49-F238E27FC236}">
                  <a16:creationId xmlns:a16="http://schemas.microsoft.com/office/drawing/2014/main" id="{CC29F321-A6F8-46F1-9834-04492B97FE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 name="Freeform: Shape 25">
              <a:extLst>
                <a:ext uri="{FF2B5EF4-FFF2-40B4-BE49-F238E27FC236}">
                  <a16:creationId xmlns:a16="http://schemas.microsoft.com/office/drawing/2014/main" id="{F8467D70-26CD-4313-B6A0-EAF328FA6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AB5D519F-B623-3C26-DE1C-9A5544E9549F}"/>
              </a:ext>
            </a:extLst>
          </p:cNvPr>
          <p:cNvSpPr>
            <a:spLocks noGrp="1"/>
          </p:cNvSpPr>
          <p:nvPr>
            <p:ph type="title"/>
          </p:nvPr>
        </p:nvSpPr>
        <p:spPr>
          <a:xfrm>
            <a:off x="410331" y="168425"/>
            <a:ext cx="10583488" cy="1047503"/>
          </a:xfrm>
        </p:spPr>
        <p:txBody>
          <a:bodyPr anchor="b">
            <a:normAutofit/>
          </a:bodyPr>
          <a:lstStyle/>
          <a:p>
            <a:pPr algn="ctr"/>
            <a:r>
              <a:rPr lang="en-IN"/>
              <a:t>Visual Insights from EDA</a:t>
            </a:r>
            <a:endParaRPr lang="en-US" dirty="0"/>
          </a:p>
        </p:txBody>
      </p:sp>
      <p:sp>
        <p:nvSpPr>
          <p:cNvPr id="3" name="Content Placeholder 2">
            <a:extLst>
              <a:ext uri="{FF2B5EF4-FFF2-40B4-BE49-F238E27FC236}">
                <a16:creationId xmlns:a16="http://schemas.microsoft.com/office/drawing/2014/main" id="{659F2447-B1D2-F48B-5CAE-EB4EDAEFE6B3}"/>
              </a:ext>
            </a:extLst>
          </p:cNvPr>
          <p:cNvSpPr>
            <a:spLocks noGrp="1"/>
          </p:cNvSpPr>
          <p:nvPr>
            <p:ph idx="1"/>
          </p:nvPr>
        </p:nvSpPr>
        <p:spPr>
          <a:xfrm>
            <a:off x="2197618" y="1990505"/>
            <a:ext cx="7796762" cy="1743915"/>
          </a:xfrm>
        </p:spPr>
        <p:txBody>
          <a:bodyPr anchor="ctr">
            <a:normAutofit/>
          </a:bodyPr>
          <a:lstStyle/>
          <a:p>
            <a:pPr algn="ctr"/>
            <a:endParaRPr lang="en-IN" sz="1800" b="1"/>
          </a:p>
          <a:p>
            <a:pPr algn="ctr"/>
            <a:endParaRPr lang="en-IN" sz="1800" b="1"/>
          </a:p>
          <a:p>
            <a:pPr algn="ctr"/>
            <a:endParaRPr lang="en-IN" sz="1800" b="1"/>
          </a:p>
          <a:p>
            <a:pPr algn="ctr"/>
            <a:endParaRPr lang="en-IN" sz="1800" b="1"/>
          </a:p>
          <a:p>
            <a:pPr algn="ctr"/>
            <a:endParaRPr lang="en-IN" sz="1800" b="1"/>
          </a:p>
          <a:p>
            <a:pPr algn="ctr"/>
            <a:endParaRPr lang="en-IN" sz="1800"/>
          </a:p>
          <a:p>
            <a:pPr marL="0" indent="0" algn="ctr">
              <a:buNone/>
            </a:pPr>
            <a:endParaRPr lang="en-US" sz="1800"/>
          </a:p>
        </p:txBody>
      </p:sp>
      <p:pic>
        <p:nvPicPr>
          <p:cNvPr id="4" name="Picture 3">
            <a:extLst>
              <a:ext uri="{FF2B5EF4-FFF2-40B4-BE49-F238E27FC236}">
                <a16:creationId xmlns:a16="http://schemas.microsoft.com/office/drawing/2014/main" id="{3AB375DF-E45C-A277-7563-9A06EC0F91D5}"/>
              </a:ext>
            </a:extLst>
          </p:cNvPr>
          <p:cNvPicPr>
            <a:picLocks noChangeAspect="1"/>
          </p:cNvPicPr>
          <p:nvPr/>
        </p:nvPicPr>
        <p:blipFill>
          <a:blip r:embed="rId2"/>
          <a:stretch>
            <a:fillRect/>
          </a:stretch>
        </p:blipFill>
        <p:spPr>
          <a:xfrm>
            <a:off x="115645" y="1592826"/>
            <a:ext cx="4792133" cy="2594840"/>
          </a:xfrm>
          <a:prstGeom prst="rect">
            <a:avLst/>
          </a:prstGeom>
        </p:spPr>
      </p:pic>
      <p:pic>
        <p:nvPicPr>
          <p:cNvPr id="8" name="Picture 7">
            <a:extLst>
              <a:ext uri="{FF2B5EF4-FFF2-40B4-BE49-F238E27FC236}">
                <a16:creationId xmlns:a16="http://schemas.microsoft.com/office/drawing/2014/main" id="{A6BEFC42-71A6-CE22-3C85-3A31FE07DBB2}"/>
              </a:ext>
            </a:extLst>
          </p:cNvPr>
          <p:cNvPicPr>
            <a:picLocks noChangeAspect="1"/>
          </p:cNvPicPr>
          <p:nvPr/>
        </p:nvPicPr>
        <p:blipFill>
          <a:blip r:embed="rId3"/>
          <a:stretch>
            <a:fillRect/>
          </a:stretch>
        </p:blipFill>
        <p:spPr>
          <a:xfrm>
            <a:off x="7399867" y="1694054"/>
            <a:ext cx="4792133" cy="2393250"/>
          </a:xfrm>
          <a:prstGeom prst="rect">
            <a:avLst/>
          </a:prstGeom>
        </p:spPr>
      </p:pic>
      <p:pic>
        <p:nvPicPr>
          <p:cNvPr id="9" name="Picture 8">
            <a:extLst>
              <a:ext uri="{FF2B5EF4-FFF2-40B4-BE49-F238E27FC236}">
                <a16:creationId xmlns:a16="http://schemas.microsoft.com/office/drawing/2014/main" id="{C507B62A-FF1E-5CB7-81BA-15DF0057554D}"/>
              </a:ext>
            </a:extLst>
          </p:cNvPr>
          <p:cNvPicPr>
            <a:picLocks noChangeAspect="1"/>
          </p:cNvPicPr>
          <p:nvPr/>
        </p:nvPicPr>
        <p:blipFill>
          <a:blip r:embed="rId4"/>
          <a:stretch>
            <a:fillRect/>
          </a:stretch>
        </p:blipFill>
        <p:spPr>
          <a:xfrm>
            <a:off x="4198440" y="4187666"/>
            <a:ext cx="4434524" cy="2539513"/>
          </a:xfrm>
          <a:prstGeom prst="rect">
            <a:avLst/>
          </a:prstGeom>
        </p:spPr>
      </p:pic>
      <p:grpSp>
        <p:nvGrpSpPr>
          <p:cNvPr id="28" name="Bottom Right">
            <a:extLst>
              <a:ext uri="{FF2B5EF4-FFF2-40B4-BE49-F238E27FC236}">
                <a16:creationId xmlns:a16="http://schemas.microsoft.com/office/drawing/2014/main" id="{25330748-DCD3-40F6-80B6-BBD60F1342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79" name="Graphic 157">
              <a:extLst>
                <a:ext uri="{FF2B5EF4-FFF2-40B4-BE49-F238E27FC236}">
                  <a16:creationId xmlns:a16="http://schemas.microsoft.com/office/drawing/2014/main" id="{7C76B3F8-E57B-4B84-AFCF-111FFBED9E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31" name="Freeform: Shape 30">
                <a:extLst>
                  <a:ext uri="{FF2B5EF4-FFF2-40B4-BE49-F238E27FC236}">
                    <a16:creationId xmlns:a16="http://schemas.microsoft.com/office/drawing/2014/main" id="{1F1327FF-A0D9-4C0E-A2D9-BDEBA8A07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3EC6B6B4-1322-4A16-96A5-99CA4AC09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DBE35EC6-17FE-468B-8D53-827021BA98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Freeform: Shape 33">
                <a:extLst>
                  <a:ext uri="{FF2B5EF4-FFF2-40B4-BE49-F238E27FC236}">
                    <a16:creationId xmlns:a16="http://schemas.microsoft.com/office/drawing/2014/main" id="{CF55A04D-04B8-4EEA-8259-B97C0B9E8F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Freeform: Shape 34">
                <a:extLst>
                  <a:ext uri="{FF2B5EF4-FFF2-40B4-BE49-F238E27FC236}">
                    <a16:creationId xmlns:a16="http://schemas.microsoft.com/office/drawing/2014/main" id="{C65F71FB-B02A-4D26-83F1-F529612E0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6" name="Freeform: Shape 35">
                <a:extLst>
                  <a:ext uri="{FF2B5EF4-FFF2-40B4-BE49-F238E27FC236}">
                    <a16:creationId xmlns:a16="http://schemas.microsoft.com/office/drawing/2014/main" id="{965629FE-C08C-4B86-A392-E6717B454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7" name="Freeform: Shape 36">
                <a:extLst>
                  <a:ext uri="{FF2B5EF4-FFF2-40B4-BE49-F238E27FC236}">
                    <a16:creationId xmlns:a16="http://schemas.microsoft.com/office/drawing/2014/main" id="{2D3C2A6F-3D83-4184-9EF4-34250BA8A8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30" name="Freeform: Shape 29">
              <a:extLst>
                <a:ext uri="{FF2B5EF4-FFF2-40B4-BE49-F238E27FC236}">
                  <a16:creationId xmlns:a16="http://schemas.microsoft.com/office/drawing/2014/main" id="{1FC3D0CE-49BC-4D5A-8326-EE25E39F49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588876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7" name="Rectangle 9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99" name="Rectangle 9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01" name="Top left">
            <a:extLst>
              <a:ext uri="{FF2B5EF4-FFF2-40B4-BE49-F238E27FC236}">
                <a16:creationId xmlns:a16="http://schemas.microsoft.com/office/drawing/2014/main" id="{2DAAFCA5-1DFC-43F3-BFA9-9FBA02EE55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02" name="Freeform: Shape 101">
              <a:extLst>
                <a:ext uri="{FF2B5EF4-FFF2-40B4-BE49-F238E27FC236}">
                  <a16:creationId xmlns:a16="http://schemas.microsoft.com/office/drawing/2014/main" id="{DA81B96B-6A05-4D1F-91A0-88288DCA9D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3" name="Freeform: Shape 102">
              <a:extLst>
                <a:ext uri="{FF2B5EF4-FFF2-40B4-BE49-F238E27FC236}">
                  <a16:creationId xmlns:a16="http://schemas.microsoft.com/office/drawing/2014/main" id="{6DE81E95-BB01-4365-A3EE-722C4F8AF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4" name="Freeform: Shape 103">
              <a:extLst>
                <a:ext uri="{FF2B5EF4-FFF2-40B4-BE49-F238E27FC236}">
                  <a16:creationId xmlns:a16="http://schemas.microsoft.com/office/drawing/2014/main" id="{E4277FDB-41B6-4631-8E68-9B870E375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5" name="Freeform: Shape 104">
              <a:extLst>
                <a:ext uri="{FF2B5EF4-FFF2-40B4-BE49-F238E27FC236}">
                  <a16:creationId xmlns:a16="http://schemas.microsoft.com/office/drawing/2014/main" id="{5F2340C3-0048-468C-82AF-64A4A9EA8D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6" name="Freeform: Shape 105">
              <a:extLst>
                <a:ext uri="{FF2B5EF4-FFF2-40B4-BE49-F238E27FC236}">
                  <a16:creationId xmlns:a16="http://schemas.microsoft.com/office/drawing/2014/main" id="{FF1D2CBC-5E3B-4B88-B306-6E5D55AAB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7" name="Freeform: Shape 106">
              <a:extLst>
                <a:ext uri="{FF2B5EF4-FFF2-40B4-BE49-F238E27FC236}">
                  <a16:creationId xmlns:a16="http://schemas.microsoft.com/office/drawing/2014/main" id="{73F7027C-3C66-46F8-A3EB-F689F39752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8" name="Freeform: Shape 107">
              <a:extLst>
                <a:ext uri="{FF2B5EF4-FFF2-40B4-BE49-F238E27FC236}">
                  <a16:creationId xmlns:a16="http://schemas.microsoft.com/office/drawing/2014/main" id="{27C7C299-6841-47C7-BE04-BC945F97E7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9" name="Freeform: Shape 108">
              <a:extLst>
                <a:ext uri="{FF2B5EF4-FFF2-40B4-BE49-F238E27FC236}">
                  <a16:creationId xmlns:a16="http://schemas.microsoft.com/office/drawing/2014/main" id="{BB264284-41E9-45CB-901A-D1AE18598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4A7A8860-04BC-FC2D-C39D-55B1A2041A0B}"/>
              </a:ext>
            </a:extLst>
          </p:cNvPr>
          <p:cNvSpPr>
            <a:spLocks noGrp="1"/>
          </p:cNvSpPr>
          <p:nvPr>
            <p:ph type="title"/>
          </p:nvPr>
        </p:nvSpPr>
        <p:spPr>
          <a:xfrm>
            <a:off x="1198182" y="559813"/>
            <a:ext cx="5605358" cy="1664573"/>
          </a:xfrm>
        </p:spPr>
        <p:txBody>
          <a:bodyPr>
            <a:normAutofit/>
          </a:bodyPr>
          <a:lstStyle/>
          <a:p>
            <a:r>
              <a:rPr lang="en-US"/>
              <a:t>DATA PREPROCESSING</a:t>
            </a:r>
            <a:endParaRPr lang="en-US" dirty="0"/>
          </a:p>
        </p:txBody>
      </p:sp>
      <p:pic>
        <p:nvPicPr>
          <p:cNvPr id="15" name="Picture 14" descr="A computer screen shot of a black screen&#10;&#10;AI-generated content may be incorrect.">
            <a:extLst>
              <a:ext uri="{FF2B5EF4-FFF2-40B4-BE49-F238E27FC236}">
                <a16:creationId xmlns:a16="http://schemas.microsoft.com/office/drawing/2014/main" id="{04FD11B2-2E8A-F741-BBDA-196EA68F7782}"/>
              </a:ext>
            </a:extLst>
          </p:cNvPr>
          <p:cNvPicPr>
            <a:picLocks noChangeAspect="1"/>
          </p:cNvPicPr>
          <p:nvPr/>
        </p:nvPicPr>
        <p:blipFill>
          <a:blip r:embed="rId2"/>
          <a:srcRect r="29960" b="-2"/>
          <a:stretch/>
        </p:blipFill>
        <p:spPr>
          <a:xfrm>
            <a:off x="7188594" y="10"/>
            <a:ext cx="5003406" cy="2285990"/>
          </a:xfrm>
          <a:prstGeom prst="rect">
            <a:avLst/>
          </a:prstGeom>
        </p:spPr>
      </p:pic>
      <p:sp>
        <p:nvSpPr>
          <p:cNvPr id="9" name="Content Placeholder 8">
            <a:extLst>
              <a:ext uri="{FF2B5EF4-FFF2-40B4-BE49-F238E27FC236}">
                <a16:creationId xmlns:a16="http://schemas.microsoft.com/office/drawing/2014/main" id="{35BA0375-86D1-50DF-0B76-3B1F5AF93D15}"/>
              </a:ext>
            </a:extLst>
          </p:cNvPr>
          <p:cNvSpPr>
            <a:spLocks noGrp="1"/>
          </p:cNvSpPr>
          <p:nvPr>
            <p:ph idx="1"/>
          </p:nvPr>
        </p:nvSpPr>
        <p:spPr>
          <a:xfrm>
            <a:off x="1185755" y="2384474"/>
            <a:ext cx="5604997" cy="3728613"/>
          </a:xfrm>
        </p:spPr>
        <p:txBody>
          <a:bodyPr>
            <a:normAutofit/>
          </a:bodyPr>
          <a:lstStyle/>
          <a:p>
            <a:pPr>
              <a:buFont typeface="Arial" panose="020B0604020202020204" pitchFamily="34" charset="0"/>
              <a:buChar char="•"/>
            </a:pPr>
            <a:r>
              <a:rPr lang="en-IN" sz="1800"/>
              <a:t>We encoded categorical variables using LabelEncoder to make them machine-readable.</a:t>
            </a:r>
          </a:p>
          <a:p>
            <a:pPr>
              <a:buFont typeface="Arial" panose="020B0604020202020204" pitchFamily="34" charset="0"/>
              <a:buChar char="•"/>
            </a:pPr>
            <a:r>
              <a:rPr lang="en-IN" sz="1800"/>
              <a:t>Converted numerical columns stored as strings into proper float types for analysis.</a:t>
            </a:r>
          </a:p>
          <a:p>
            <a:pPr>
              <a:buFont typeface="Arial" panose="020B0604020202020204" pitchFamily="34" charset="0"/>
              <a:buChar char="•"/>
            </a:pPr>
            <a:r>
              <a:rPr lang="en-IN" sz="1800"/>
              <a:t>Handled outliers by applying </a:t>
            </a:r>
            <a:r>
              <a:rPr lang="en-IN" sz="1800" b="1"/>
              <a:t>IQR filtering</a:t>
            </a:r>
            <a:r>
              <a:rPr lang="en-IN" sz="1800"/>
              <a:t>, which helped clean up extreme values that could skew the model.</a:t>
            </a:r>
          </a:p>
          <a:p>
            <a:pPr>
              <a:buFont typeface="Arial" panose="020B0604020202020204" pitchFamily="34" charset="0"/>
              <a:buChar char="•"/>
            </a:pPr>
            <a:r>
              <a:rPr lang="en-IN" sz="1800"/>
              <a:t>Filled missing values using the </a:t>
            </a:r>
            <a:r>
              <a:rPr lang="en-IN" sz="1800" b="1"/>
              <a:t>median</a:t>
            </a:r>
            <a:r>
              <a:rPr lang="en-IN" sz="1800"/>
              <a:t> for numerical columns.</a:t>
            </a:r>
          </a:p>
          <a:p>
            <a:pPr marL="0" indent="0">
              <a:buNone/>
            </a:pPr>
            <a:endParaRPr lang="en-US" sz="1800"/>
          </a:p>
        </p:txBody>
      </p:sp>
      <p:pic>
        <p:nvPicPr>
          <p:cNvPr id="13" name="Picture 12" descr="A screen shot of a computer&#10;&#10;AI-generated content may be incorrect.">
            <a:extLst>
              <a:ext uri="{FF2B5EF4-FFF2-40B4-BE49-F238E27FC236}">
                <a16:creationId xmlns:a16="http://schemas.microsoft.com/office/drawing/2014/main" id="{A7CC14BA-432B-8EAC-F3EB-87556AB03412}"/>
              </a:ext>
            </a:extLst>
          </p:cNvPr>
          <p:cNvPicPr>
            <a:picLocks noChangeAspect="1"/>
          </p:cNvPicPr>
          <p:nvPr/>
        </p:nvPicPr>
        <p:blipFill>
          <a:blip r:embed="rId3"/>
          <a:srcRect r="29960" b="-2"/>
          <a:stretch/>
        </p:blipFill>
        <p:spPr>
          <a:xfrm>
            <a:off x="7188594" y="2286000"/>
            <a:ext cx="5003406" cy="2286000"/>
          </a:xfrm>
          <a:prstGeom prst="rect">
            <a:avLst/>
          </a:prstGeom>
        </p:spPr>
      </p:pic>
      <p:pic>
        <p:nvPicPr>
          <p:cNvPr id="11" name="Picture 10" descr="A screen shot of a computer screen&#10;&#10;AI-generated content may be incorrect.">
            <a:extLst>
              <a:ext uri="{FF2B5EF4-FFF2-40B4-BE49-F238E27FC236}">
                <a16:creationId xmlns:a16="http://schemas.microsoft.com/office/drawing/2014/main" id="{4BC5927F-FF59-11C5-0114-E8D334D0DD3B}"/>
              </a:ext>
            </a:extLst>
          </p:cNvPr>
          <p:cNvPicPr>
            <a:picLocks noChangeAspect="1"/>
          </p:cNvPicPr>
          <p:nvPr/>
        </p:nvPicPr>
        <p:blipFill>
          <a:blip r:embed="rId4"/>
          <a:srcRect l="1719" r="28240" b="-2"/>
          <a:stretch/>
        </p:blipFill>
        <p:spPr>
          <a:xfrm>
            <a:off x="7158732" y="4485271"/>
            <a:ext cx="5003406" cy="2286000"/>
          </a:xfrm>
          <a:prstGeom prst="rect">
            <a:avLst/>
          </a:prstGeom>
        </p:spPr>
      </p:pic>
      <p:grpSp>
        <p:nvGrpSpPr>
          <p:cNvPr id="111" name="Bottom Right">
            <a:extLst>
              <a:ext uri="{FF2B5EF4-FFF2-40B4-BE49-F238E27FC236}">
                <a16:creationId xmlns:a16="http://schemas.microsoft.com/office/drawing/2014/main" id="{21F5931D-F07C-4C51-BAE4-F817B85DFD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112" name="Graphic 157">
              <a:extLst>
                <a:ext uri="{FF2B5EF4-FFF2-40B4-BE49-F238E27FC236}">
                  <a16:creationId xmlns:a16="http://schemas.microsoft.com/office/drawing/2014/main" id="{F06FD6EB-DF3A-4461-8775-36DE35F2A5A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114" name="Freeform: Shape 113">
                <a:extLst>
                  <a:ext uri="{FF2B5EF4-FFF2-40B4-BE49-F238E27FC236}">
                    <a16:creationId xmlns:a16="http://schemas.microsoft.com/office/drawing/2014/main" id="{BC3B322B-2542-4403-A06B-6FFA3F753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5" name="Freeform: Shape 114">
                <a:extLst>
                  <a:ext uri="{FF2B5EF4-FFF2-40B4-BE49-F238E27FC236}">
                    <a16:creationId xmlns:a16="http://schemas.microsoft.com/office/drawing/2014/main" id="{C2501D36-0DE6-4152-8ABC-5BFAA72A1C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6" name="Freeform: Shape 115">
                <a:extLst>
                  <a:ext uri="{FF2B5EF4-FFF2-40B4-BE49-F238E27FC236}">
                    <a16:creationId xmlns:a16="http://schemas.microsoft.com/office/drawing/2014/main" id="{02136525-2593-4600-BA91-DC9765E62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7" name="Freeform: Shape 116">
                <a:extLst>
                  <a:ext uri="{FF2B5EF4-FFF2-40B4-BE49-F238E27FC236}">
                    <a16:creationId xmlns:a16="http://schemas.microsoft.com/office/drawing/2014/main" id="{A841304E-B865-40BC-8EEB-7711FB668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8" name="Freeform: Shape 117">
                <a:extLst>
                  <a:ext uri="{FF2B5EF4-FFF2-40B4-BE49-F238E27FC236}">
                    <a16:creationId xmlns:a16="http://schemas.microsoft.com/office/drawing/2014/main" id="{E227A704-6074-42E5-82D0-AFDFFAED59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9" name="Freeform: Shape 118">
                <a:extLst>
                  <a:ext uri="{FF2B5EF4-FFF2-40B4-BE49-F238E27FC236}">
                    <a16:creationId xmlns:a16="http://schemas.microsoft.com/office/drawing/2014/main" id="{23AB8F2C-79F6-47D8-BE44-28E87D9A7C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0" name="Freeform: Shape 119">
                <a:extLst>
                  <a:ext uri="{FF2B5EF4-FFF2-40B4-BE49-F238E27FC236}">
                    <a16:creationId xmlns:a16="http://schemas.microsoft.com/office/drawing/2014/main" id="{4E298897-91BA-4C86-B21B-28BABA1FA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13" name="Freeform: Shape 112">
              <a:extLst>
                <a:ext uri="{FF2B5EF4-FFF2-40B4-BE49-F238E27FC236}">
                  <a16:creationId xmlns:a16="http://schemas.microsoft.com/office/drawing/2014/main" id="{C8C0B5F1-BE54-422F-8DCE-7CB52815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2413932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3" name="Top Left">
            <a:extLst>
              <a:ext uri="{FF2B5EF4-FFF2-40B4-BE49-F238E27FC236}">
                <a16:creationId xmlns:a16="http://schemas.microsoft.com/office/drawing/2014/main" id="{FADD1535-ED83-48B3-8EB1-671A080F09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4" name="Freeform: Shape 43">
              <a:extLst>
                <a:ext uri="{FF2B5EF4-FFF2-40B4-BE49-F238E27FC236}">
                  <a16:creationId xmlns:a16="http://schemas.microsoft.com/office/drawing/2014/main" id="{E70C64DB-421C-4FFD-8EB1-A7D1A5DC1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5" name="Freeform: Shape 44">
              <a:extLst>
                <a:ext uri="{FF2B5EF4-FFF2-40B4-BE49-F238E27FC236}">
                  <a16:creationId xmlns:a16="http://schemas.microsoft.com/office/drawing/2014/main" id="{5C04BFFB-0C30-49E1-B4F0-243531219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368C7354-F4EF-4BC5-BF44-01614E0B93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145981B8-FB15-43E7-B1CE-AE4A5E9B1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75F05D22-2B12-4452-A804-346878D55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7B26EE6B-DF99-4B8A-8859-82A92A598A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CE8FB053-1663-44BA-8128-0C19BD762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75E5E4F4-4EE0-49E3-98E5-F1E2BB91A7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5A938803-D789-9A77-3A13-E81BD9C3E140}"/>
              </a:ext>
            </a:extLst>
          </p:cNvPr>
          <p:cNvSpPr>
            <a:spLocks noGrp="1"/>
          </p:cNvSpPr>
          <p:nvPr>
            <p:ph type="title"/>
          </p:nvPr>
        </p:nvSpPr>
        <p:spPr>
          <a:xfrm>
            <a:off x="1198182" y="559813"/>
            <a:ext cx="4390807" cy="1664573"/>
          </a:xfrm>
        </p:spPr>
        <p:txBody>
          <a:bodyPr>
            <a:normAutofit/>
          </a:bodyPr>
          <a:lstStyle/>
          <a:p>
            <a:pPr>
              <a:lnSpc>
                <a:spcPct val="90000"/>
              </a:lnSpc>
            </a:pPr>
            <a:r>
              <a:rPr lang="en-IN" sz="3700"/>
              <a:t>Handling Imbalanced Data</a:t>
            </a:r>
            <a:endParaRPr lang="en-US" sz="3700"/>
          </a:p>
        </p:txBody>
      </p:sp>
      <p:sp>
        <p:nvSpPr>
          <p:cNvPr id="3" name="Content Placeholder 2">
            <a:extLst>
              <a:ext uri="{FF2B5EF4-FFF2-40B4-BE49-F238E27FC236}">
                <a16:creationId xmlns:a16="http://schemas.microsoft.com/office/drawing/2014/main" id="{0E2D5537-4172-7553-81D6-8055B0E4530E}"/>
              </a:ext>
            </a:extLst>
          </p:cNvPr>
          <p:cNvSpPr>
            <a:spLocks noGrp="1"/>
          </p:cNvSpPr>
          <p:nvPr>
            <p:ph idx="1"/>
          </p:nvPr>
        </p:nvSpPr>
        <p:spPr>
          <a:xfrm>
            <a:off x="1185756" y="2384474"/>
            <a:ext cx="4390524" cy="3728613"/>
          </a:xfrm>
        </p:spPr>
        <p:txBody>
          <a:bodyPr>
            <a:normAutofit/>
          </a:bodyPr>
          <a:lstStyle/>
          <a:p>
            <a:pPr>
              <a:lnSpc>
                <a:spcPct val="100000"/>
              </a:lnSpc>
            </a:pPr>
            <a:r>
              <a:rPr lang="en-IN" sz="1400"/>
              <a:t>First, we separated the features and the target Hospital Ratings</a:t>
            </a:r>
          </a:p>
          <a:p>
            <a:pPr>
              <a:lnSpc>
                <a:spcPct val="100000"/>
              </a:lnSpc>
            </a:pPr>
            <a:r>
              <a:rPr lang="en-IN" sz="1400"/>
              <a:t>Then, we performed a stratified train-test split to maintain the original class proportions in both sets.</a:t>
            </a:r>
          </a:p>
          <a:p>
            <a:pPr>
              <a:lnSpc>
                <a:spcPct val="100000"/>
              </a:lnSpc>
            </a:pPr>
            <a:r>
              <a:rPr lang="en-IN" sz="1400"/>
              <a:t>We examined the class distribution in the training set to confirm the imbalance before applying any resampling.</a:t>
            </a:r>
          </a:p>
          <a:p>
            <a:pPr>
              <a:lnSpc>
                <a:spcPct val="100000"/>
              </a:lnSpc>
            </a:pPr>
            <a:r>
              <a:rPr lang="en-US" sz="1400"/>
              <a:t> we applied SMOTE to balance the class distribution</a:t>
            </a:r>
          </a:p>
          <a:p>
            <a:pPr>
              <a:lnSpc>
                <a:spcPct val="100000"/>
              </a:lnSpc>
            </a:pPr>
            <a:r>
              <a:rPr lang="en-IN" sz="1400"/>
              <a:t>After applying SMOTE, the class distribution became more balanced, which led to improved performance across all classes during model training and evaluation.</a:t>
            </a:r>
            <a:endParaRPr lang="en-US" sz="1400"/>
          </a:p>
        </p:txBody>
      </p:sp>
      <p:pic>
        <p:nvPicPr>
          <p:cNvPr id="5" name="Picture 4" descr="A screenshot of a computer program&#10;&#10;AI-generated content may be incorrect.">
            <a:extLst>
              <a:ext uri="{FF2B5EF4-FFF2-40B4-BE49-F238E27FC236}">
                <a16:creationId xmlns:a16="http://schemas.microsoft.com/office/drawing/2014/main" id="{6E57FFEE-9CF9-5F27-3027-719E11D2F989}"/>
              </a:ext>
            </a:extLst>
          </p:cNvPr>
          <p:cNvPicPr>
            <a:picLocks noChangeAspect="1"/>
          </p:cNvPicPr>
          <p:nvPr/>
        </p:nvPicPr>
        <p:blipFill>
          <a:blip r:embed="rId2"/>
          <a:srcRect r="49411"/>
          <a:stretch/>
        </p:blipFill>
        <p:spPr>
          <a:xfrm>
            <a:off x="5996628" y="10"/>
            <a:ext cx="6195372" cy="6857990"/>
          </a:xfrm>
          <a:prstGeom prst="rect">
            <a:avLst/>
          </a:prstGeom>
        </p:spPr>
      </p:pic>
      <p:grpSp>
        <p:nvGrpSpPr>
          <p:cNvPr id="53" name="Bottom Right">
            <a:extLst>
              <a:ext uri="{FF2B5EF4-FFF2-40B4-BE49-F238E27FC236}">
                <a16:creationId xmlns:a16="http://schemas.microsoft.com/office/drawing/2014/main" id="{01081332-6CA1-49C2-A979-7709509AD1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54" name="Graphic 157">
              <a:extLst>
                <a:ext uri="{FF2B5EF4-FFF2-40B4-BE49-F238E27FC236}">
                  <a16:creationId xmlns:a16="http://schemas.microsoft.com/office/drawing/2014/main" id="{826B0664-73BC-4FCB-A447-57F7F676474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6" name="Freeform: Shape 55">
                <a:extLst>
                  <a:ext uri="{FF2B5EF4-FFF2-40B4-BE49-F238E27FC236}">
                    <a16:creationId xmlns:a16="http://schemas.microsoft.com/office/drawing/2014/main" id="{23242A3E-DBD8-44D5-930F-DA776CA06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F331C242-2FF0-40D4-BF95-4A27680F2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B500FE3B-EB2C-4A5D-ABA7-35137B2BA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6E1EA3BF-3A9F-4CD0-9640-6FF67F4430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17F4411F-5B81-451C-A006-8754E1618A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4E4D64BD-20E2-44CF-AEB4-A87A43376B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0B309630-6603-4319-BAB8-93102ABEB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5" name="Freeform: Shape 54">
              <a:extLst>
                <a:ext uri="{FF2B5EF4-FFF2-40B4-BE49-F238E27FC236}">
                  <a16:creationId xmlns:a16="http://schemas.microsoft.com/office/drawing/2014/main" id="{F540FCD4-859A-4602-9CBC-C697E3877A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13471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5" name="Rectangle 34">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36" name="Top left">
            <a:extLst>
              <a:ext uri="{FF2B5EF4-FFF2-40B4-BE49-F238E27FC236}">
                <a16:creationId xmlns:a16="http://schemas.microsoft.com/office/drawing/2014/main" id="{ED60728C-88AF-4686-B927-4D16FCA61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37" name="Freeform: Shape 13">
              <a:extLst>
                <a:ext uri="{FF2B5EF4-FFF2-40B4-BE49-F238E27FC236}">
                  <a16:creationId xmlns:a16="http://schemas.microsoft.com/office/drawing/2014/main" id="{278DB09B-A33D-4576-A2A6-C559A7B1D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8" name="Freeform: Shape 14">
              <a:extLst>
                <a:ext uri="{FF2B5EF4-FFF2-40B4-BE49-F238E27FC236}">
                  <a16:creationId xmlns:a16="http://schemas.microsoft.com/office/drawing/2014/main" id="{0C41767E-98F0-4274-AE4C-C14CDB1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9" name="Freeform: Shape 15">
              <a:extLst>
                <a:ext uri="{FF2B5EF4-FFF2-40B4-BE49-F238E27FC236}">
                  <a16:creationId xmlns:a16="http://schemas.microsoft.com/office/drawing/2014/main" id="{49E7BFFC-D14C-4D7A-8192-6A701768E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0" name="Freeform: Shape 16">
              <a:extLst>
                <a:ext uri="{FF2B5EF4-FFF2-40B4-BE49-F238E27FC236}">
                  <a16:creationId xmlns:a16="http://schemas.microsoft.com/office/drawing/2014/main" id="{C301DF1A-E4DA-478A-BBC7-6F41D3C4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1" name="Freeform: Shape 17">
              <a:extLst>
                <a:ext uri="{FF2B5EF4-FFF2-40B4-BE49-F238E27FC236}">
                  <a16:creationId xmlns:a16="http://schemas.microsoft.com/office/drawing/2014/main" id="{0DC4D1C9-C056-4627-9A58-184A528AE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2" name="Freeform: Shape 18">
              <a:extLst>
                <a:ext uri="{FF2B5EF4-FFF2-40B4-BE49-F238E27FC236}">
                  <a16:creationId xmlns:a16="http://schemas.microsoft.com/office/drawing/2014/main" id="{6B3DE44D-D6F5-4688-A2C8-DB38BF3AE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3" name="Freeform: Shape 19">
              <a:extLst>
                <a:ext uri="{FF2B5EF4-FFF2-40B4-BE49-F238E27FC236}">
                  <a16:creationId xmlns:a16="http://schemas.microsoft.com/office/drawing/2014/main" id="{2914BE39-F24F-476F-A0FE-C1284E3C9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Freeform: Shape 20">
              <a:extLst>
                <a:ext uri="{FF2B5EF4-FFF2-40B4-BE49-F238E27FC236}">
                  <a16:creationId xmlns:a16="http://schemas.microsoft.com/office/drawing/2014/main" id="{150C50DD-114B-4C37-9DEA-C411981A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8655A215-40E5-5688-AE47-A3D5A7A8FCF0}"/>
              </a:ext>
            </a:extLst>
          </p:cNvPr>
          <p:cNvSpPr>
            <a:spLocks noGrp="1"/>
          </p:cNvSpPr>
          <p:nvPr>
            <p:ph type="title"/>
          </p:nvPr>
        </p:nvSpPr>
        <p:spPr>
          <a:xfrm>
            <a:off x="1198181" y="167973"/>
            <a:ext cx="9988165" cy="1501639"/>
          </a:xfrm>
        </p:spPr>
        <p:txBody>
          <a:bodyPr anchor="b">
            <a:normAutofit/>
          </a:bodyPr>
          <a:lstStyle/>
          <a:p>
            <a:r>
              <a:rPr lang="en-IN" dirty="0"/>
              <a:t>Models Implemented</a:t>
            </a:r>
            <a:endParaRPr lang="en-US" dirty="0"/>
          </a:p>
        </p:txBody>
      </p:sp>
      <p:grpSp>
        <p:nvGrpSpPr>
          <p:cNvPr id="45" name="Bottom Right">
            <a:extLst>
              <a:ext uri="{FF2B5EF4-FFF2-40B4-BE49-F238E27FC236}">
                <a16:creationId xmlns:a16="http://schemas.microsoft.com/office/drawing/2014/main" id="{E29543BC-4F82-4E07-AB0A-5F46306785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4" name="Graphic 157">
              <a:extLst>
                <a:ext uri="{FF2B5EF4-FFF2-40B4-BE49-F238E27FC236}">
                  <a16:creationId xmlns:a16="http://schemas.microsoft.com/office/drawing/2014/main" id="{B1F4E521-92A4-404B-9990-F7F6DF8FBA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46" name="Freeform: Shape 25">
                <a:extLst>
                  <a:ext uri="{FF2B5EF4-FFF2-40B4-BE49-F238E27FC236}">
                    <a16:creationId xmlns:a16="http://schemas.microsoft.com/office/drawing/2014/main" id="{40578EAD-9663-475F-A80B-5DE9F17D1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26">
                <a:extLst>
                  <a:ext uri="{FF2B5EF4-FFF2-40B4-BE49-F238E27FC236}">
                    <a16:creationId xmlns:a16="http://schemas.microsoft.com/office/drawing/2014/main" id="{7FC98A82-CD5D-4D9B-97CD-40E2E9C1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27">
                <a:extLst>
                  <a:ext uri="{FF2B5EF4-FFF2-40B4-BE49-F238E27FC236}">
                    <a16:creationId xmlns:a16="http://schemas.microsoft.com/office/drawing/2014/main" id="{590100E2-61F2-4AAB-A0ED-B08B7A708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Freeform: Shape 28">
                <a:extLst>
                  <a:ext uri="{FF2B5EF4-FFF2-40B4-BE49-F238E27FC236}">
                    <a16:creationId xmlns:a16="http://schemas.microsoft.com/office/drawing/2014/main" id="{7E20DC85-459A-4BEB-8147-3AE04CC4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Freeform: Shape 29">
                <a:extLst>
                  <a:ext uri="{FF2B5EF4-FFF2-40B4-BE49-F238E27FC236}">
                    <a16:creationId xmlns:a16="http://schemas.microsoft.com/office/drawing/2014/main" id="{F72A9DDF-0B98-41A6-8F44-54776E027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 name="Freeform: Shape 30">
                <a:extLst>
                  <a:ext uri="{FF2B5EF4-FFF2-40B4-BE49-F238E27FC236}">
                    <a16:creationId xmlns:a16="http://schemas.microsoft.com/office/drawing/2014/main" id="{43F611D7-5B82-42F8-B143-68F2A6CDA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Freeform: Shape 31">
                <a:extLst>
                  <a:ext uri="{FF2B5EF4-FFF2-40B4-BE49-F238E27FC236}">
                    <a16:creationId xmlns:a16="http://schemas.microsoft.com/office/drawing/2014/main" id="{7D58D974-C48E-4A34-90C2-C8D37E08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3" name="Freeform: Shape 24">
              <a:extLst>
                <a:ext uri="{FF2B5EF4-FFF2-40B4-BE49-F238E27FC236}">
                  <a16:creationId xmlns:a16="http://schemas.microsoft.com/office/drawing/2014/main" id="{1360CE22-0882-4148-AD09-1074F556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5" name="Content Placeholder 2">
            <a:extLst>
              <a:ext uri="{FF2B5EF4-FFF2-40B4-BE49-F238E27FC236}">
                <a16:creationId xmlns:a16="http://schemas.microsoft.com/office/drawing/2014/main" id="{A679D901-3557-5B29-A56A-4C735394CE71}"/>
              </a:ext>
            </a:extLst>
          </p:cNvPr>
          <p:cNvGraphicFramePr>
            <a:graphicFrameLocks noGrp="1"/>
          </p:cNvGraphicFramePr>
          <p:nvPr>
            <p:ph idx="1"/>
            <p:extLst>
              <p:ext uri="{D42A27DB-BD31-4B8C-83A1-F6EECF244321}">
                <p14:modId xmlns:p14="http://schemas.microsoft.com/office/powerpoint/2010/main" val="174101560"/>
              </p:ext>
            </p:extLst>
          </p:nvPr>
        </p:nvGraphicFramePr>
        <p:xfrm>
          <a:off x="838200" y="1982167"/>
          <a:ext cx="10515600" cy="4194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3888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0" name="Rectangle 3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2" name="Top left">
            <a:extLst>
              <a:ext uri="{FF2B5EF4-FFF2-40B4-BE49-F238E27FC236}">
                <a16:creationId xmlns:a16="http://schemas.microsoft.com/office/drawing/2014/main" id="{F73EC8D8-C118-4A24-B3A2-F22636F209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43" name="Freeform: Shape 42">
              <a:extLst>
                <a:ext uri="{FF2B5EF4-FFF2-40B4-BE49-F238E27FC236}">
                  <a16:creationId xmlns:a16="http://schemas.microsoft.com/office/drawing/2014/main" id="{33A839E4-FE02-4C32-B9F7-07884043E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4" name="Freeform: Shape 43">
              <a:extLst>
                <a:ext uri="{FF2B5EF4-FFF2-40B4-BE49-F238E27FC236}">
                  <a16:creationId xmlns:a16="http://schemas.microsoft.com/office/drawing/2014/main" id="{9C10340A-FCF2-4B86-A53A-4AC07E6CF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Freeform: Shape 44">
              <a:extLst>
                <a:ext uri="{FF2B5EF4-FFF2-40B4-BE49-F238E27FC236}">
                  <a16:creationId xmlns:a16="http://schemas.microsoft.com/office/drawing/2014/main" id="{2E85F37B-D9B1-4701-B54A-A91E836FA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Freeform: Shape 45">
              <a:extLst>
                <a:ext uri="{FF2B5EF4-FFF2-40B4-BE49-F238E27FC236}">
                  <a16:creationId xmlns:a16="http://schemas.microsoft.com/office/drawing/2014/main" id="{227C5295-7462-4E42-B19A-682465F9F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46">
              <a:extLst>
                <a:ext uri="{FF2B5EF4-FFF2-40B4-BE49-F238E27FC236}">
                  <a16:creationId xmlns:a16="http://schemas.microsoft.com/office/drawing/2014/main" id="{712C31CF-3625-4E9F-99FC-C7AA5BBA88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47">
              <a:extLst>
                <a:ext uri="{FF2B5EF4-FFF2-40B4-BE49-F238E27FC236}">
                  <a16:creationId xmlns:a16="http://schemas.microsoft.com/office/drawing/2014/main" id="{36EDCF2F-2C4B-4D4B-964F-F640BCDCE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Freeform: Shape 48">
              <a:extLst>
                <a:ext uri="{FF2B5EF4-FFF2-40B4-BE49-F238E27FC236}">
                  <a16:creationId xmlns:a16="http://schemas.microsoft.com/office/drawing/2014/main" id="{21B0354D-2FFC-40F9-91E5-A83DDD770D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Freeform: Shape 49">
              <a:extLst>
                <a:ext uri="{FF2B5EF4-FFF2-40B4-BE49-F238E27FC236}">
                  <a16:creationId xmlns:a16="http://schemas.microsoft.com/office/drawing/2014/main" id="{E4F4CED2-0CA8-4824-93F0-00BE4C7D1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7CFD6262-1633-F841-AE9B-154D4895E8DB}"/>
              </a:ext>
            </a:extLst>
          </p:cNvPr>
          <p:cNvSpPr>
            <a:spLocks noGrp="1"/>
          </p:cNvSpPr>
          <p:nvPr>
            <p:ph type="title"/>
          </p:nvPr>
        </p:nvSpPr>
        <p:spPr>
          <a:xfrm>
            <a:off x="1198182" y="559813"/>
            <a:ext cx="3980254" cy="5577934"/>
          </a:xfrm>
        </p:spPr>
        <p:txBody>
          <a:bodyPr>
            <a:normAutofit/>
          </a:bodyPr>
          <a:lstStyle/>
          <a:p>
            <a:r>
              <a:rPr lang="en-US" dirty="0"/>
              <a:t>Random forest </a:t>
            </a:r>
          </a:p>
        </p:txBody>
      </p:sp>
      <p:grpSp>
        <p:nvGrpSpPr>
          <p:cNvPr id="52" name="Bottom Right">
            <a:extLst>
              <a:ext uri="{FF2B5EF4-FFF2-40B4-BE49-F238E27FC236}">
                <a16:creationId xmlns:a16="http://schemas.microsoft.com/office/drawing/2014/main" id="{3BA0B410-FA41-4CD6-A923-146E029BBB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53" name="Graphic 157">
              <a:extLst>
                <a:ext uri="{FF2B5EF4-FFF2-40B4-BE49-F238E27FC236}">
                  <a16:creationId xmlns:a16="http://schemas.microsoft.com/office/drawing/2014/main" id="{2448B270-CA89-4A7C-8CFC-8237ED03AE1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55" name="Freeform: Shape 54">
                <a:extLst>
                  <a:ext uri="{FF2B5EF4-FFF2-40B4-BE49-F238E27FC236}">
                    <a16:creationId xmlns:a16="http://schemas.microsoft.com/office/drawing/2014/main" id="{BD2ED6FF-1F6E-4BF0-BFFF-5CB8D36F1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Freeform: Shape 55">
                <a:extLst>
                  <a:ext uri="{FF2B5EF4-FFF2-40B4-BE49-F238E27FC236}">
                    <a16:creationId xmlns:a16="http://schemas.microsoft.com/office/drawing/2014/main" id="{2F2CCA35-C35D-416B-A083-A167138A57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Freeform: Shape 56">
                <a:extLst>
                  <a:ext uri="{FF2B5EF4-FFF2-40B4-BE49-F238E27FC236}">
                    <a16:creationId xmlns:a16="http://schemas.microsoft.com/office/drawing/2014/main" id="{70FAEE04-D524-4356-8CFE-091D44ED18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Shape 57">
                <a:extLst>
                  <a:ext uri="{FF2B5EF4-FFF2-40B4-BE49-F238E27FC236}">
                    <a16:creationId xmlns:a16="http://schemas.microsoft.com/office/drawing/2014/main" id="{5F641E2E-FB37-449C-96DA-945907C75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Freeform: Shape 58">
                <a:extLst>
                  <a:ext uri="{FF2B5EF4-FFF2-40B4-BE49-F238E27FC236}">
                    <a16:creationId xmlns:a16="http://schemas.microsoft.com/office/drawing/2014/main" id="{283CE73A-E65A-44EA-9C23-C6F2137AFB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Freeform: Shape 59">
                <a:extLst>
                  <a:ext uri="{FF2B5EF4-FFF2-40B4-BE49-F238E27FC236}">
                    <a16:creationId xmlns:a16="http://schemas.microsoft.com/office/drawing/2014/main" id="{41745A30-6979-4D1D-A629-E7C0C6A53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1" name="Freeform: Shape 60">
                <a:extLst>
                  <a:ext uri="{FF2B5EF4-FFF2-40B4-BE49-F238E27FC236}">
                    <a16:creationId xmlns:a16="http://schemas.microsoft.com/office/drawing/2014/main" id="{E70C366B-087F-442D-AC20-1319F97A9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4" name="Freeform: Shape 53">
              <a:extLst>
                <a:ext uri="{FF2B5EF4-FFF2-40B4-BE49-F238E27FC236}">
                  <a16:creationId xmlns:a16="http://schemas.microsoft.com/office/drawing/2014/main" id="{1D2F7A6B-9CB6-4AC5-B906-664FC95A17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5" name="Content Placeholder 2">
            <a:extLst>
              <a:ext uri="{FF2B5EF4-FFF2-40B4-BE49-F238E27FC236}">
                <a16:creationId xmlns:a16="http://schemas.microsoft.com/office/drawing/2014/main" id="{A7863660-DC13-6D1E-E401-1DE8887BBEB9}"/>
              </a:ext>
            </a:extLst>
          </p:cNvPr>
          <p:cNvGraphicFramePr>
            <a:graphicFrameLocks noGrp="1"/>
          </p:cNvGraphicFramePr>
          <p:nvPr>
            <p:ph idx="1"/>
            <p:extLst>
              <p:ext uri="{D42A27DB-BD31-4B8C-83A1-F6EECF244321}">
                <p14:modId xmlns:p14="http://schemas.microsoft.com/office/powerpoint/2010/main" val="1732886135"/>
              </p:ext>
            </p:extLst>
          </p:nvPr>
        </p:nvGraphicFramePr>
        <p:xfrm>
          <a:off x="5408988" y="341165"/>
          <a:ext cx="6173409" cy="58434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5864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C0758-6B07-9120-AB54-AE76E7292E56}"/>
              </a:ext>
            </a:extLst>
          </p:cNvPr>
          <p:cNvSpPr>
            <a:spLocks noGrp="1"/>
          </p:cNvSpPr>
          <p:nvPr>
            <p:ph type="title"/>
          </p:nvPr>
        </p:nvSpPr>
        <p:spPr/>
        <p:txBody>
          <a:bodyPr/>
          <a:lstStyle/>
          <a:p>
            <a:r>
              <a:rPr lang="en-US" dirty="0"/>
              <a:t>XGBOOST CLASSIFIER</a:t>
            </a:r>
          </a:p>
        </p:txBody>
      </p:sp>
      <p:sp>
        <p:nvSpPr>
          <p:cNvPr id="3" name="Content Placeholder 2">
            <a:extLst>
              <a:ext uri="{FF2B5EF4-FFF2-40B4-BE49-F238E27FC236}">
                <a16:creationId xmlns:a16="http://schemas.microsoft.com/office/drawing/2014/main" id="{DED9D363-5B7D-3433-FE15-8A28E651C7EE}"/>
              </a:ext>
            </a:extLst>
          </p:cNvPr>
          <p:cNvSpPr>
            <a:spLocks noGrp="1"/>
          </p:cNvSpPr>
          <p:nvPr>
            <p:ph idx="1"/>
          </p:nvPr>
        </p:nvSpPr>
        <p:spPr/>
        <p:txBody>
          <a:bodyPr>
            <a:normAutofit/>
          </a:bodyPr>
          <a:lstStyle/>
          <a:p>
            <a:r>
              <a:rPr lang="en-IN" sz="1200" dirty="0">
                <a:latin typeface="Times New Roman" panose="02020603050405020304" pitchFamily="18" charset="0"/>
                <a:cs typeface="Times New Roman" panose="02020603050405020304" pitchFamily="18" charset="0"/>
              </a:rPr>
              <a:t>We trained the model on both the original and SMOTE-balanced datasets to tackle the class imbalance issue in hospital ratings.</a:t>
            </a:r>
            <a:endParaRPr lang="en-US"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XGBoost</a:t>
            </a:r>
            <a:r>
              <a:rPr lang="en-IN" sz="1200" dirty="0">
                <a:latin typeface="Times New Roman" panose="02020603050405020304" pitchFamily="18" charset="0"/>
                <a:cs typeface="Times New Roman" panose="02020603050405020304" pitchFamily="18" charset="0"/>
              </a:rPr>
              <a:t> is a smart and fast machine learning model that's especially good at making accurate predictions with spreadsheet-like (tabular) data.</a:t>
            </a:r>
          </a:p>
          <a:p>
            <a:pPr lvl="0"/>
            <a:r>
              <a:rPr lang="en-IN" sz="1200" dirty="0">
                <a:latin typeface="Times New Roman" panose="02020603050405020304" pitchFamily="18" charset="0"/>
                <a:cs typeface="Times New Roman" panose="02020603050405020304" pitchFamily="18" charset="0"/>
              </a:rPr>
              <a:t>To understand how well the model actually performed, we looked at a few important metrics:</a:t>
            </a:r>
            <a:endParaRPr lang="en-US"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Accuracy(original data): 0.990603 </a:t>
            </a:r>
          </a:p>
          <a:p>
            <a:r>
              <a:rPr lang="en-IN" sz="1200" b="1" dirty="0">
                <a:latin typeface="Times New Roman" panose="02020603050405020304" pitchFamily="18" charset="0"/>
                <a:cs typeface="Times New Roman" panose="02020603050405020304" pitchFamily="18" charset="0"/>
              </a:rPr>
              <a:t>Accuracy (smote data): 0.960199 </a:t>
            </a:r>
          </a:p>
          <a:p>
            <a:r>
              <a:rPr lang="en-IN" sz="1200" b="1" dirty="0">
                <a:latin typeface="Times New Roman" panose="02020603050405020304" pitchFamily="18" charset="0"/>
                <a:cs typeface="Times New Roman" panose="02020603050405020304" pitchFamily="18" charset="0"/>
              </a:rPr>
              <a:t>Precession(original data): 0.974196 </a:t>
            </a:r>
          </a:p>
          <a:p>
            <a:r>
              <a:rPr lang="en-IN" sz="1200" b="1" dirty="0" err="1">
                <a:latin typeface="Times New Roman" panose="02020603050405020304" pitchFamily="18" charset="0"/>
                <a:cs typeface="Times New Roman" panose="02020603050405020304" pitchFamily="18" charset="0"/>
              </a:rPr>
              <a:t>Precission</a:t>
            </a:r>
            <a:r>
              <a:rPr lang="en-IN" sz="1200" b="1" dirty="0">
                <a:latin typeface="Times New Roman" panose="02020603050405020304" pitchFamily="18" charset="0"/>
                <a:cs typeface="Times New Roman" panose="02020603050405020304" pitchFamily="18" charset="0"/>
              </a:rPr>
              <a:t> (smote data): 0.801006</a:t>
            </a:r>
          </a:p>
          <a:p>
            <a:r>
              <a:rPr lang="en-IN" sz="1200" b="1" dirty="0">
                <a:latin typeface="Times New Roman" panose="02020603050405020304" pitchFamily="18" charset="0"/>
                <a:cs typeface="Times New Roman" panose="02020603050405020304" pitchFamily="18" charset="0"/>
              </a:rPr>
              <a:t>F1 Score(original data):0.960987 </a:t>
            </a:r>
          </a:p>
          <a:p>
            <a:r>
              <a:rPr lang="en-IN" sz="1200" b="1" dirty="0">
                <a:latin typeface="Times New Roman" panose="02020603050405020304" pitchFamily="18" charset="0"/>
                <a:cs typeface="Times New Roman" panose="02020603050405020304" pitchFamily="18" charset="0"/>
              </a:rPr>
              <a:t>F1 Score (smote data ): 0.857564 </a:t>
            </a:r>
          </a:p>
          <a:p>
            <a:r>
              <a:rPr lang="en-IN" sz="1200" b="1" dirty="0">
                <a:latin typeface="Times New Roman" panose="02020603050405020304" pitchFamily="18" charset="0"/>
                <a:cs typeface="Times New Roman" panose="02020603050405020304" pitchFamily="18" charset="0"/>
              </a:rPr>
              <a:t>Roc –AUC Curve:  0.998762</a:t>
            </a:r>
          </a:p>
          <a:p>
            <a:r>
              <a:rPr lang="en-IN" sz="1200" b="1" dirty="0">
                <a:latin typeface="Times New Roman" panose="02020603050405020304" pitchFamily="18" charset="0"/>
                <a:cs typeface="Times New Roman" panose="02020603050405020304" pitchFamily="18" charset="0"/>
              </a:rPr>
              <a:t>These results clearly showed that using SMOTE for class balancing improved the model's ability to identify minority classes more effectively</a:t>
            </a:r>
          </a:p>
          <a:p>
            <a:endParaRPr lang="en-IN" sz="1200" b="1" dirty="0">
              <a:latin typeface="Times New Roman" panose="02020603050405020304" pitchFamily="18" charset="0"/>
              <a:cs typeface="Times New Roman" panose="02020603050405020304" pitchFamily="18" charset="0"/>
            </a:endParaRPr>
          </a:p>
          <a:p>
            <a:endParaRPr lang="en-IN" sz="1200" b="1" dirty="0">
              <a:latin typeface="Times New Roman" panose="02020603050405020304" pitchFamily="18" charset="0"/>
              <a:cs typeface="Times New Roman" panose="02020603050405020304" pitchFamily="18" charset="0"/>
            </a:endParaRPr>
          </a:p>
          <a:p>
            <a:pPr lvl="0"/>
            <a:endParaRPr lang="en-IN" sz="1200" b="1" dirty="0">
              <a:latin typeface="Times New Roman" panose="02020603050405020304" pitchFamily="18" charset="0"/>
              <a:cs typeface="Times New Roman" panose="02020603050405020304" pitchFamily="18" charset="0"/>
            </a:endParaRPr>
          </a:p>
          <a:p>
            <a:pPr lvl="0"/>
            <a:endParaRPr lang="en-IN" sz="1200" b="1" dirty="0">
              <a:latin typeface="Times New Roman" panose="02020603050405020304" pitchFamily="18" charset="0"/>
              <a:cs typeface="Times New Roman" panose="02020603050405020304" pitchFamily="18" charset="0"/>
            </a:endParaRPr>
          </a:p>
          <a:p>
            <a:pPr lvl="0"/>
            <a:endParaRPr lang="en-GB"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6500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4A8A5-1DB9-EDD4-D160-490FBF18B3CA}"/>
              </a:ext>
            </a:extLst>
          </p:cNvPr>
          <p:cNvSpPr>
            <a:spLocks noGrp="1"/>
          </p:cNvSpPr>
          <p:nvPr>
            <p:ph type="title"/>
          </p:nvPr>
        </p:nvSpPr>
        <p:spPr/>
        <p:txBody>
          <a:bodyPr/>
          <a:lstStyle/>
          <a:p>
            <a:r>
              <a:rPr lang="en-US" dirty="0"/>
              <a:t>K-NEAREST NEIGHBOUR</a:t>
            </a:r>
          </a:p>
        </p:txBody>
      </p:sp>
      <p:sp>
        <p:nvSpPr>
          <p:cNvPr id="3" name="Content Placeholder 2">
            <a:extLst>
              <a:ext uri="{FF2B5EF4-FFF2-40B4-BE49-F238E27FC236}">
                <a16:creationId xmlns:a16="http://schemas.microsoft.com/office/drawing/2014/main" id="{1595A216-4724-1859-3277-D52E8ADC5D6C}"/>
              </a:ext>
            </a:extLst>
          </p:cNvPr>
          <p:cNvSpPr>
            <a:spLocks noGrp="1"/>
          </p:cNvSpPr>
          <p:nvPr>
            <p:ph idx="1"/>
          </p:nvPr>
        </p:nvSpPr>
        <p:spPr>
          <a:xfrm>
            <a:off x="152400" y="1388533"/>
            <a:ext cx="12039600" cy="5283200"/>
          </a:xfrm>
        </p:spPr>
        <p:txBody>
          <a:bodyPr>
            <a:normAutofit/>
          </a:bodyPr>
          <a:lstStyle/>
          <a:p>
            <a:r>
              <a:rPr lang="en-IN" sz="1400" dirty="0">
                <a:latin typeface="Times New Roman" panose="02020603050405020304" pitchFamily="18" charset="0"/>
                <a:cs typeface="Times New Roman" panose="02020603050405020304" pitchFamily="18" charset="0"/>
              </a:rPr>
              <a:t>We trained the model on both the original and SMOTE-balanced datasets to tackle the class imbalance issue in hospital ratings.</a:t>
            </a:r>
            <a:endParaRPr lang="en-US" sz="14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KNN is a simple, intuitive algorithm that classifies data based on how close it is to other points in the training set.</a:t>
            </a:r>
          </a:p>
          <a:p>
            <a:r>
              <a:rPr lang="en-IN" sz="1400" dirty="0">
                <a:latin typeface="Times New Roman" panose="02020603050405020304" pitchFamily="18" charset="0"/>
                <a:cs typeface="Times New Roman" panose="02020603050405020304" pitchFamily="18" charset="0"/>
              </a:rPr>
              <a:t>To understand how well the model actually performed, we looked at a few important metrics:</a:t>
            </a:r>
            <a:endParaRPr lang="en-US"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Accuracy(original data):0.939866 </a:t>
            </a:r>
          </a:p>
          <a:p>
            <a:r>
              <a:rPr lang="en-IN" sz="1400" b="1" dirty="0">
                <a:latin typeface="Times New Roman" panose="02020603050405020304" pitchFamily="18" charset="0"/>
                <a:cs typeface="Times New Roman" panose="02020603050405020304" pitchFamily="18" charset="0"/>
              </a:rPr>
              <a:t>Accuracy (smote data):  0.868083 </a:t>
            </a:r>
          </a:p>
          <a:p>
            <a:r>
              <a:rPr lang="en-IN" sz="1400" b="1" dirty="0">
                <a:latin typeface="Times New Roman" panose="02020603050405020304" pitchFamily="18" charset="0"/>
                <a:cs typeface="Times New Roman" panose="02020603050405020304" pitchFamily="18" charset="0"/>
              </a:rPr>
              <a:t>Precession(original data): 0.617511 </a:t>
            </a:r>
          </a:p>
          <a:p>
            <a:r>
              <a:rPr lang="en-IN" sz="1400" b="1" dirty="0" err="1">
                <a:latin typeface="Times New Roman" panose="02020603050405020304" pitchFamily="18" charset="0"/>
                <a:cs typeface="Times New Roman" panose="02020603050405020304" pitchFamily="18" charset="0"/>
              </a:rPr>
              <a:t>Precission</a:t>
            </a:r>
            <a:r>
              <a:rPr lang="en-IN" sz="1400" b="1" dirty="0">
                <a:latin typeface="Times New Roman" panose="02020603050405020304" pitchFamily="18" charset="0"/>
                <a:cs typeface="Times New Roman" panose="02020603050405020304" pitchFamily="18" charset="0"/>
              </a:rPr>
              <a:t> (smote data):  0.516060</a:t>
            </a:r>
          </a:p>
          <a:p>
            <a:r>
              <a:rPr lang="en-IN" sz="1400" b="1" dirty="0">
                <a:latin typeface="Times New Roman" panose="02020603050405020304" pitchFamily="18" charset="0"/>
                <a:cs typeface="Times New Roman" panose="02020603050405020304" pitchFamily="18" charset="0"/>
              </a:rPr>
              <a:t>F1 Score(original data): 0.450745 </a:t>
            </a:r>
          </a:p>
          <a:p>
            <a:r>
              <a:rPr lang="en-IN" sz="1400" b="1" dirty="0">
                <a:latin typeface="Times New Roman" panose="02020603050405020304" pitchFamily="18" charset="0"/>
                <a:cs typeface="Times New Roman" panose="02020603050405020304" pitchFamily="18" charset="0"/>
              </a:rPr>
              <a:t>F1 Score (smote data ):  0.585802 </a:t>
            </a:r>
          </a:p>
          <a:p>
            <a:r>
              <a:rPr lang="en-IN" sz="1400" b="1" dirty="0">
                <a:latin typeface="Times New Roman" panose="02020603050405020304" pitchFamily="18" charset="0"/>
                <a:cs typeface="Times New Roman" panose="02020603050405020304" pitchFamily="18" charset="0"/>
              </a:rPr>
              <a:t>Roc –AUC Curve:   0.865517 </a:t>
            </a:r>
          </a:p>
          <a:p>
            <a:r>
              <a:rPr lang="en-IN" sz="1200" dirty="0">
                <a:latin typeface="Times New Roman" panose="02020603050405020304" pitchFamily="18" charset="0"/>
                <a:cs typeface="Times New Roman" panose="02020603050405020304" pitchFamily="18" charset="0"/>
              </a:rPr>
              <a:t>These results suggest that SMOTE helped improve KNN’s ability to detect minority classes, though overall accuracy dropped slightly.</a:t>
            </a:r>
          </a:p>
          <a:p>
            <a:endParaRPr lang="en-IN" sz="1200" b="1" dirty="0">
              <a:latin typeface="Times New Roman" panose="02020603050405020304" pitchFamily="18" charset="0"/>
              <a:cs typeface="Times New Roman" panose="02020603050405020304" pitchFamily="18" charset="0"/>
            </a:endParaRPr>
          </a:p>
          <a:p>
            <a:endParaRPr lang="en-IN" sz="1400" b="1" dirty="0">
              <a:latin typeface="Times New Roman" panose="02020603050405020304" pitchFamily="18" charset="0"/>
              <a:cs typeface="Times New Roman" panose="02020603050405020304" pitchFamily="18" charset="0"/>
            </a:endParaRPr>
          </a:p>
          <a:p>
            <a:endParaRPr lang="en-IN" sz="1400" b="1" dirty="0">
              <a:latin typeface="Times New Roman" panose="02020603050405020304" pitchFamily="18" charset="0"/>
              <a:cs typeface="Times New Roman" panose="02020603050405020304" pitchFamily="18" charset="0"/>
            </a:endParaRPr>
          </a:p>
          <a:p>
            <a:endParaRPr lang="en-IN" sz="14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658689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BD828-633A-3D65-4686-FABDF81D7C2A}"/>
              </a:ext>
            </a:extLst>
          </p:cNvPr>
          <p:cNvSpPr>
            <a:spLocks noGrp="1"/>
          </p:cNvSpPr>
          <p:nvPr>
            <p:ph type="title"/>
          </p:nvPr>
        </p:nvSpPr>
        <p:spPr/>
        <p:txBody>
          <a:bodyPr/>
          <a:lstStyle/>
          <a:p>
            <a:r>
              <a:rPr lang="en-US" dirty="0"/>
              <a:t>SUPPORT VECTOR MACHINE</a:t>
            </a:r>
          </a:p>
        </p:txBody>
      </p:sp>
      <p:sp>
        <p:nvSpPr>
          <p:cNvPr id="3" name="Content Placeholder 2">
            <a:extLst>
              <a:ext uri="{FF2B5EF4-FFF2-40B4-BE49-F238E27FC236}">
                <a16:creationId xmlns:a16="http://schemas.microsoft.com/office/drawing/2014/main" id="{8644FDA4-CA44-BB09-C5A2-976BEE85247F}"/>
              </a:ext>
            </a:extLst>
          </p:cNvPr>
          <p:cNvSpPr>
            <a:spLocks noGrp="1"/>
          </p:cNvSpPr>
          <p:nvPr>
            <p:ph idx="1"/>
          </p:nvPr>
        </p:nvSpPr>
        <p:spPr/>
        <p:txBody>
          <a:bodyPr>
            <a:normAutofit fontScale="55000" lnSpcReduction="20000"/>
          </a:bodyPr>
          <a:lstStyle/>
          <a:p>
            <a:r>
              <a:rPr lang="en-IN" sz="2800" dirty="0">
                <a:latin typeface="Times New Roman" panose="02020603050405020304" pitchFamily="18" charset="0"/>
                <a:cs typeface="Times New Roman" panose="02020603050405020304" pitchFamily="18" charset="0"/>
              </a:rPr>
              <a:t>We trained the model on both the original and SMOTE-balanced datasets to tackle the class imbalance issue in hospital ratings.</a:t>
            </a:r>
            <a:endParaRPr lang="en-US" sz="2800" dirty="0">
              <a:latin typeface="Times New Roman" panose="02020603050405020304" pitchFamily="18" charset="0"/>
              <a:cs typeface="Times New Roman" panose="02020603050405020304" pitchFamily="18" charset="0"/>
            </a:endParaRPr>
          </a:p>
          <a:p>
            <a:pPr lvl="0"/>
            <a:r>
              <a:rPr lang="en-IN" dirty="0"/>
              <a:t>SVM tries to find the best boundary between classes using a mathematical function called a hyperplane.</a:t>
            </a:r>
            <a:endParaRPr lang="en-IN" sz="2800" dirty="0">
              <a:latin typeface="Times New Roman" panose="02020603050405020304" pitchFamily="18" charset="0"/>
              <a:cs typeface="Times New Roman" panose="02020603050405020304" pitchFamily="18" charset="0"/>
            </a:endParaRPr>
          </a:p>
          <a:p>
            <a:pPr lvl="0"/>
            <a:r>
              <a:rPr lang="en-IN" sz="2800" dirty="0">
                <a:latin typeface="Times New Roman" panose="02020603050405020304" pitchFamily="18" charset="0"/>
                <a:cs typeface="Times New Roman" panose="02020603050405020304" pitchFamily="18" charset="0"/>
              </a:rPr>
              <a:t>To understand how well the model actually performed, we looked at a few important metrics:</a:t>
            </a:r>
            <a:endParaRPr lang="en-US"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Accuracy(original data): 0.940038</a:t>
            </a:r>
          </a:p>
          <a:p>
            <a:r>
              <a:rPr lang="en-IN" sz="2800" b="1" dirty="0">
                <a:latin typeface="Times New Roman" panose="02020603050405020304" pitchFamily="18" charset="0"/>
                <a:cs typeface="Times New Roman" panose="02020603050405020304" pitchFamily="18" charset="0"/>
              </a:rPr>
              <a:t>Accuracy (smote data): 0.617612 </a:t>
            </a:r>
          </a:p>
          <a:p>
            <a:r>
              <a:rPr lang="en-IN" sz="2800" b="1" dirty="0">
                <a:latin typeface="Times New Roman" panose="02020603050405020304" pitchFamily="18" charset="0"/>
                <a:cs typeface="Times New Roman" panose="02020603050405020304" pitchFamily="18" charset="0"/>
              </a:rPr>
              <a:t>Precession(original data): 0.313346</a:t>
            </a:r>
          </a:p>
          <a:p>
            <a:r>
              <a:rPr lang="en-IN" sz="2800" b="1" dirty="0" err="1">
                <a:latin typeface="Times New Roman" panose="02020603050405020304" pitchFamily="18" charset="0"/>
                <a:cs typeface="Times New Roman" panose="02020603050405020304" pitchFamily="18" charset="0"/>
              </a:rPr>
              <a:t>Precission</a:t>
            </a:r>
            <a:r>
              <a:rPr lang="en-IN" sz="2800" b="1" dirty="0">
                <a:latin typeface="Times New Roman" panose="02020603050405020304" pitchFamily="18" charset="0"/>
                <a:cs typeface="Times New Roman" panose="02020603050405020304" pitchFamily="18" charset="0"/>
              </a:rPr>
              <a:t> (smote data): 0.801006</a:t>
            </a:r>
          </a:p>
          <a:p>
            <a:r>
              <a:rPr lang="en-IN" sz="2800" b="1" dirty="0">
                <a:latin typeface="Times New Roman" panose="02020603050405020304" pitchFamily="18" charset="0"/>
                <a:cs typeface="Times New Roman" panose="02020603050405020304" pitchFamily="18" charset="0"/>
              </a:rPr>
              <a:t>F1 Score(original data):0.960987 </a:t>
            </a:r>
          </a:p>
          <a:p>
            <a:r>
              <a:rPr lang="en-IN" sz="2800" b="1" dirty="0">
                <a:latin typeface="Times New Roman" panose="02020603050405020304" pitchFamily="18" charset="0"/>
                <a:cs typeface="Times New Roman" panose="02020603050405020304" pitchFamily="18" charset="0"/>
              </a:rPr>
              <a:t>F1 Score (smote data ): 0.857564 </a:t>
            </a:r>
          </a:p>
          <a:p>
            <a:r>
              <a:rPr lang="en-IN" sz="2800" b="1" dirty="0">
                <a:latin typeface="Times New Roman" panose="02020603050405020304" pitchFamily="18" charset="0"/>
                <a:cs typeface="Times New Roman" panose="02020603050405020304" pitchFamily="18" charset="0"/>
              </a:rPr>
              <a:t>Roc –AUC Curve:  0.865517</a:t>
            </a:r>
          </a:p>
          <a:p>
            <a:r>
              <a:rPr lang="en-IN" sz="2200" dirty="0">
                <a:latin typeface="Times New Roman" panose="02020603050405020304" pitchFamily="18" charset="0"/>
                <a:cs typeface="Times New Roman" panose="02020603050405020304" pitchFamily="18" charset="0"/>
              </a:rPr>
              <a:t>Its performance was poor on imbalanced data, but SMOTE slightly improved class detection.</a:t>
            </a:r>
          </a:p>
          <a:p>
            <a:endParaRPr lang="en-IN" sz="2800"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59166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9ACDC-52E5-9C68-08D1-83CC369C649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09BC406-F518-0B71-1D17-A09DD822C350}"/>
              </a:ext>
            </a:extLst>
          </p:cNvPr>
          <p:cNvSpPr>
            <a:spLocks noGrp="1"/>
          </p:cNvSpPr>
          <p:nvPr>
            <p:ph idx="1"/>
          </p:nvPr>
        </p:nvSpPr>
        <p:spPr>
          <a:xfrm>
            <a:off x="147483" y="2006600"/>
            <a:ext cx="12044517" cy="3361813"/>
          </a:xfrm>
        </p:spPr>
        <p:txBody>
          <a:bodyPr/>
          <a:lstStyle/>
          <a:p>
            <a:pPr marL="0" indent="0">
              <a:buNone/>
            </a:pPr>
            <a:r>
              <a:rPr lang="en-IN" dirty="0">
                <a:solidFill>
                  <a:srgbClr val="000000"/>
                </a:solidFill>
                <a:effectLst/>
                <a:latin typeface="Times New Roman" panose="02020603050405020304" pitchFamily="18" charset="0"/>
              </a:rPr>
              <a:t>This proposed machine learning framework can be useful in predicting in-hospital mortality ,as we can identify the number of death cases ,high mortality rates and the hospital ratings associated with it which helps improve clinical-decision making and strategies to identify the patients who might be at risk. According to this data we can identify the hospitals with highest and lowest mortality rates</a:t>
            </a:r>
          </a:p>
          <a:p>
            <a:pPr marL="0" indent="0">
              <a:buNone/>
            </a:pPr>
            <a:endParaRPr lang="en-US" dirty="0"/>
          </a:p>
        </p:txBody>
      </p:sp>
    </p:spTree>
    <p:extLst>
      <p:ext uri="{BB962C8B-B14F-4D97-AF65-F5344CB8AC3E}">
        <p14:creationId xmlns:p14="http://schemas.microsoft.com/office/powerpoint/2010/main" val="328071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E55D8-FE0D-3422-F2B0-47A291004180}"/>
              </a:ext>
            </a:extLst>
          </p:cNvPr>
          <p:cNvSpPr>
            <a:spLocks noGrp="1"/>
          </p:cNvSpPr>
          <p:nvPr>
            <p:ph type="title"/>
          </p:nvPr>
        </p:nvSpPr>
        <p:spPr>
          <a:xfrm>
            <a:off x="838200" y="365126"/>
            <a:ext cx="10515600" cy="888206"/>
          </a:xfrm>
        </p:spPr>
        <p:txBody>
          <a:bodyPr/>
          <a:lstStyle/>
          <a:p>
            <a:r>
              <a:rPr lang="en-US" dirty="0"/>
              <a:t>References</a:t>
            </a:r>
          </a:p>
        </p:txBody>
      </p:sp>
      <p:sp>
        <p:nvSpPr>
          <p:cNvPr id="3" name="Content Placeholder 2">
            <a:extLst>
              <a:ext uri="{FF2B5EF4-FFF2-40B4-BE49-F238E27FC236}">
                <a16:creationId xmlns:a16="http://schemas.microsoft.com/office/drawing/2014/main" id="{6DC247B0-EF40-5B7D-E06A-4A05BC653C76}"/>
              </a:ext>
            </a:extLst>
          </p:cNvPr>
          <p:cNvSpPr>
            <a:spLocks noGrp="1"/>
          </p:cNvSpPr>
          <p:nvPr>
            <p:ph idx="1"/>
          </p:nvPr>
        </p:nvSpPr>
        <p:spPr>
          <a:xfrm>
            <a:off x="838200" y="1253331"/>
            <a:ext cx="10515600" cy="4351338"/>
          </a:xfrm>
        </p:spPr>
        <p:txBody>
          <a:bodyPr>
            <a:noAutofit/>
          </a:bodyPr>
          <a:lstStyle/>
          <a:p>
            <a:r>
              <a:rPr lang="en-US" sz="1200" dirty="0">
                <a:latin typeface="Times New Roman" panose="02020603050405020304" pitchFamily="18" charset="0"/>
                <a:cs typeface="Times New Roman" panose="02020603050405020304" pitchFamily="18" charset="0"/>
              </a:rPr>
              <a:t>Dr D. </a:t>
            </a:r>
            <a:r>
              <a:rPr lang="en-US" sz="1200" dirty="0" err="1">
                <a:latin typeface="Times New Roman" panose="02020603050405020304" pitchFamily="18" charset="0"/>
                <a:cs typeface="Times New Roman" panose="02020603050405020304" pitchFamily="18" charset="0"/>
              </a:rPr>
              <a:t>Nepogodiev</a:t>
            </a:r>
            <a:r>
              <a:rPr lang="en-US" sz="1200" dirty="0">
                <a:latin typeface="Times New Roman" panose="02020603050405020304" pitchFamily="18" charset="0"/>
                <a:cs typeface="Times New Roman" panose="02020603050405020304" pitchFamily="18" charset="0"/>
              </a:rPr>
              <a:t>, National Institute for Health Research Global Health Research Unit on Global Surgery, Heritage Building, University of Birmingham, </a:t>
            </a:r>
            <a:r>
              <a:rPr lang="en-US" sz="1200" dirty="0" err="1">
                <a:latin typeface="Times New Roman" panose="02020603050405020304" pitchFamily="18" charset="0"/>
                <a:cs typeface="Times New Roman" panose="02020603050405020304" pitchFamily="18" charset="0"/>
              </a:rPr>
              <a:t>Mindelsohn</a:t>
            </a:r>
            <a:r>
              <a:rPr lang="en-US" sz="1200" dirty="0">
                <a:latin typeface="Times New Roman" panose="02020603050405020304" pitchFamily="18" charset="0"/>
                <a:cs typeface="Times New Roman" panose="02020603050405020304" pitchFamily="18" charset="0"/>
              </a:rPr>
              <a:t> Way, Birmingham B15 2TH, UK </a:t>
            </a:r>
          </a:p>
          <a:p>
            <a:r>
              <a:rPr lang="en-US" sz="1200" dirty="0">
                <a:latin typeface="Times New Roman" panose="02020603050405020304" pitchFamily="18" charset="0"/>
                <a:cs typeface="Times New Roman" panose="02020603050405020304" pitchFamily="18" charset="0"/>
              </a:rPr>
              <a:t>Sun, Y., Heng, B. H., Tay, S. Y., &amp; </a:t>
            </a:r>
            <a:r>
              <a:rPr lang="en-US" sz="1200" dirty="0" err="1">
                <a:latin typeface="Times New Roman" panose="02020603050405020304" pitchFamily="18" charset="0"/>
                <a:cs typeface="Times New Roman" panose="02020603050405020304" pitchFamily="18" charset="0"/>
              </a:rPr>
              <a:t>Seow</a:t>
            </a:r>
            <a:r>
              <a:rPr lang="en-US" sz="1200" dirty="0">
                <a:latin typeface="Times New Roman" panose="02020603050405020304" pitchFamily="18" charset="0"/>
                <a:cs typeface="Times New Roman" panose="02020603050405020304" pitchFamily="18" charset="0"/>
              </a:rPr>
              <a:t>, E. (2011). Predicting hospital admissions at emergency department triage using routine administrative data. Academic Emergency Medicine, 18(8), 844–850.</a:t>
            </a:r>
          </a:p>
          <a:p>
            <a:r>
              <a:rPr lang="en-US" sz="1200" dirty="0">
                <a:latin typeface="Times New Roman" panose="02020603050405020304" pitchFamily="18" charset="0"/>
                <a:cs typeface="Times New Roman" panose="02020603050405020304" pitchFamily="18" charset="0"/>
              </a:rPr>
              <a:t>Sherwood, M. W., Brennan, J. M., Ho, K. K. L., </a:t>
            </a:r>
            <a:r>
              <a:rPr lang="en-US" sz="1200" dirty="0" err="1">
                <a:latin typeface="Times New Roman" panose="02020603050405020304" pitchFamily="18" charset="0"/>
                <a:cs typeface="Times New Roman" panose="02020603050405020304" pitchFamily="18" charset="0"/>
              </a:rPr>
              <a:t>Masoudi</a:t>
            </a:r>
            <a:r>
              <a:rPr lang="en-US" sz="1200" dirty="0">
                <a:latin typeface="Times New Roman" panose="02020603050405020304" pitchFamily="18" charset="0"/>
                <a:cs typeface="Times New Roman" panose="02020603050405020304" pitchFamily="18" charset="0"/>
              </a:rPr>
              <a:t>, F. A., Messenger, J. C., Weaver, W. D., Dai, D., &amp; Peterson, E. D. (2015). The impact of extreme-risk cases on hospitals' risk-adjusted percutaneous coronary intervention mortality ratings. JACC: Cardiovascular Interventions, 8(1), 10–16. </a:t>
            </a:r>
            <a:r>
              <a:rPr lang="en-US" sz="1200" dirty="0">
                <a:latin typeface="Times New Roman" panose="02020603050405020304" pitchFamily="18" charset="0"/>
                <a:cs typeface="Times New Roman" panose="02020603050405020304" pitchFamily="18" charset="0"/>
                <a:hlinkClick r:id="rId2"/>
              </a:rPr>
              <a:t>https://www.jacc.org/doi/abs/10.1016/j.jcin.2014.07.025</a:t>
            </a:r>
            <a:endParaRPr lang="en-US" sz="1200" dirty="0">
              <a:latin typeface="Times New Roman" panose="02020603050405020304" pitchFamily="18" charset="0"/>
              <a:cs typeface="Times New Roman" panose="02020603050405020304" pitchFamily="18" charset="0"/>
            </a:endParaRPr>
          </a:p>
          <a:p>
            <a:r>
              <a:rPr lang="en-US" sz="1200" dirty="0" err="1">
                <a:latin typeface="Times New Roman" panose="02020603050405020304" pitchFamily="18" charset="0"/>
                <a:cs typeface="Times New Roman" panose="02020603050405020304" pitchFamily="18" charset="0"/>
              </a:rPr>
              <a:t>Rajkomar</a:t>
            </a:r>
            <a:r>
              <a:rPr lang="en-US" sz="1200" dirty="0">
                <a:latin typeface="Times New Roman" panose="02020603050405020304" pitchFamily="18" charset="0"/>
                <a:cs typeface="Times New Roman" panose="02020603050405020304" pitchFamily="18" charset="0"/>
              </a:rPr>
              <a:t>, A., Oren, E., Chen, K., Dai, A. M., </a:t>
            </a:r>
            <a:r>
              <a:rPr lang="en-US" sz="1200" dirty="0" err="1">
                <a:latin typeface="Times New Roman" panose="02020603050405020304" pitchFamily="18" charset="0"/>
                <a:cs typeface="Times New Roman" panose="02020603050405020304" pitchFamily="18" charset="0"/>
              </a:rPr>
              <a:t>Hajaj</a:t>
            </a:r>
            <a:r>
              <a:rPr lang="en-US" sz="1200" dirty="0">
                <a:latin typeface="Times New Roman" panose="02020603050405020304" pitchFamily="18" charset="0"/>
                <a:cs typeface="Times New Roman" panose="02020603050405020304" pitchFamily="18" charset="0"/>
              </a:rPr>
              <a:t>, N., Hardt, M., Liu, P. J., Liu, X., Marcus, J., Sun, M., Sundberg, P., Yee, H., Zhang, K., Zhang, Y., Flores, G., Duggan, G. E., Irvine, J., Le, Q., </a:t>
            </a:r>
            <a:r>
              <a:rPr lang="en-US" sz="1200" dirty="0" err="1">
                <a:latin typeface="Times New Roman" panose="02020603050405020304" pitchFamily="18" charset="0"/>
                <a:cs typeface="Times New Roman" panose="02020603050405020304" pitchFamily="18" charset="0"/>
              </a:rPr>
              <a:t>Litsch</a:t>
            </a:r>
            <a:r>
              <a:rPr lang="en-US" sz="1200" dirty="0">
                <a:latin typeface="Times New Roman" panose="02020603050405020304" pitchFamily="18" charset="0"/>
                <a:cs typeface="Times New Roman" panose="02020603050405020304" pitchFamily="18" charset="0"/>
              </a:rPr>
              <a:t>, K., </a:t>
            </a:r>
            <a:r>
              <a:rPr lang="en-US" sz="1200" dirty="0" err="1">
                <a:latin typeface="Times New Roman" panose="02020603050405020304" pitchFamily="18" charset="0"/>
                <a:cs typeface="Times New Roman" panose="02020603050405020304" pitchFamily="18" charset="0"/>
              </a:rPr>
              <a:t>Mossin</a:t>
            </a:r>
            <a:r>
              <a:rPr lang="en-US" sz="1200" dirty="0">
                <a:latin typeface="Times New Roman" panose="02020603050405020304" pitchFamily="18" charset="0"/>
                <a:cs typeface="Times New Roman" panose="02020603050405020304" pitchFamily="18" charset="0"/>
              </a:rPr>
              <a:t>, A., </a:t>
            </a:r>
            <a:r>
              <a:rPr lang="en-US" sz="1200" dirty="0" err="1">
                <a:latin typeface="Times New Roman" panose="02020603050405020304" pitchFamily="18" charset="0"/>
                <a:cs typeface="Times New Roman" panose="02020603050405020304" pitchFamily="18" charset="0"/>
              </a:rPr>
              <a:t>Tansuwan</a:t>
            </a:r>
            <a:r>
              <a:rPr lang="en-US" sz="1200" dirty="0">
                <a:latin typeface="Times New Roman" panose="02020603050405020304" pitchFamily="18" charset="0"/>
                <a:cs typeface="Times New Roman" panose="02020603050405020304" pitchFamily="18" charset="0"/>
              </a:rPr>
              <a:t>, J., Wang, D., Wexler, J., Wilson, J., Ludwig, D., </a:t>
            </a:r>
            <a:r>
              <a:rPr lang="en-US" sz="1200" dirty="0" err="1">
                <a:latin typeface="Times New Roman" panose="02020603050405020304" pitchFamily="18" charset="0"/>
                <a:cs typeface="Times New Roman" panose="02020603050405020304" pitchFamily="18" charset="0"/>
              </a:rPr>
              <a:t>Volchenboum</a:t>
            </a:r>
            <a:r>
              <a:rPr lang="en-US" sz="1200" dirty="0">
                <a:latin typeface="Times New Roman" panose="02020603050405020304" pitchFamily="18" charset="0"/>
                <a:cs typeface="Times New Roman" panose="02020603050405020304" pitchFamily="18" charset="0"/>
              </a:rPr>
              <a:t>, S. L., Chou, K., Pearson, M., </a:t>
            </a:r>
            <a:r>
              <a:rPr lang="en-US" sz="1200" dirty="0" err="1">
                <a:latin typeface="Times New Roman" panose="02020603050405020304" pitchFamily="18" charset="0"/>
                <a:cs typeface="Times New Roman" panose="02020603050405020304" pitchFamily="18" charset="0"/>
              </a:rPr>
              <a:t>Madabushi</a:t>
            </a:r>
            <a:r>
              <a:rPr lang="en-US" sz="1200" dirty="0">
                <a:latin typeface="Times New Roman" panose="02020603050405020304" pitchFamily="18" charset="0"/>
                <a:cs typeface="Times New Roman" panose="02020603050405020304" pitchFamily="18" charset="0"/>
              </a:rPr>
              <a:t>, S., Shah, N. H., Butte, A. J., Howell, M. D., Cui, C., Corrado, G. S., &amp; Dean, J. (2018). Scalable and accurate deep learning with electronic health records. </a:t>
            </a:r>
            <a:r>
              <a:rPr lang="en-US" sz="1200" dirty="0" err="1">
                <a:latin typeface="Times New Roman" panose="02020603050405020304" pitchFamily="18" charset="0"/>
                <a:cs typeface="Times New Roman" panose="02020603050405020304" pitchFamily="18" charset="0"/>
              </a:rPr>
              <a:t>npj</a:t>
            </a:r>
            <a:r>
              <a:rPr lang="en-US" sz="1200" dirty="0">
                <a:latin typeface="Times New Roman" panose="02020603050405020304" pitchFamily="18" charset="0"/>
                <a:cs typeface="Times New Roman" panose="02020603050405020304" pitchFamily="18" charset="0"/>
              </a:rPr>
              <a:t> Digital Medicine, 1(1), 18. </a:t>
            </a:r>
            <a:r>
              <a:rPr lang="en-US" sz="1200" dirty="0">
                <a:latin typeface="Times New Roman" panose="02020603050405020304" pitchFamily="18" charset="0"/>
                <a:cs typeface="Times New Roman" panose="02020603050405020304" pitchFamily="18" charset="0"/>
                <a:hlinkClick r:id="rId3"/>
              </a:rPr>
              <a:t>https://www.nature.com/articles/s41746-018-0029-1</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Zheng, D., Ni, C.-C., Wang, M., Song, X., Gan, Q., </a:t>
            </a:r>
            <a:r>
              <a:rPr lang="en-US" sz="1200" dirty="0" err="1">
                <a:latin typeface="Times New Roman" panose="02020603050405020304" pitchFamily="18" charset="0"/>
                <a:cs typeface="Times New Roman" panose="02020603050405020304" pitchFamily="18" charset="0"/>
              </a:rPr>
              <a:t>Karypis</a:t>
            </a:r>
            <a:r>
              <a:rPr lang="en-US" sz="1200" dirty="0">
                <a:latin typeface="Times New Roman" panose="02020603050405020304" pitchFamily="18" charset="0"/>
                <a:cs typeface="Times New Roman" panose="02020603050405020304" pitchFamily="18" charset="0"/>
              </a:rPr>
              <a:t>, G., &amp; Zhang, Z. (2021). Deep learning with heterogeneous graph embeddings. Transactions on Machine Learning and Artificial Intelligence, 3(3), 329–351. </a:t>
            </a:r>
            <a:r>
              <a:rPr lang="en-US" sz="1200" dirty="0">
                <a:latin typeface="Times New Roman" panose="02020603050405020304" pitchFamily="18" charset="0"/>
                <a:cs typeface="Times New Roman" panose="02020603050405020304" pitchFamily="18" charset="0"/>
                <a:hlinkClick r:id="rId4"/>
              </a:rPr>
              <a:t>https://doi.org/10.1162/dint_a_00094</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Brown, T., Mann, B., Ryder, N., Subbiah, M., Kaplan, J., </a:t>
            </a:r>
            <a:r>
              <a:rPr lang="en-US" sz="1200" dirty="0" err="1">
                <a:latin typeface="Times New Roman" panose="02020603050405020304" pitchFamily="18" charset="0"/>
                <a:cs typeface="Times New Roman" panose="02020603050405020304" pitchFamily="18" charset="0"/>
              </a:rPr>
              <a:t>Dhariwal</a:t>
            </a:r>
            <a:r>
              <a:rPr lang="en-US" sz="1200" dirty="0">
                <a:latin typeface="Times New Roman" panose="02020603050405020304" pitchFamily="18" charset="0"/>
                <a:cs typeface="Times New Roman" panose="02020603050405020304" pitchFamily="18" charset="0"/>
              </a:rPr>
              <a:t>, P., ... &amp; Amodei, D. (2020). Language models are few-shot learners. </a:t>
            </a:r>
            <a:r>
              <a:rPr lang="en-US" sz="1200" dirty="0">
                <a:latin typeface="Times New Roman" panose="02020603050405020304" pitchFamily="18" charset="0"/>
                <a:cs typeface="Times New Roman" panose="02020603050405020304" pitchFamily="18" charset="0"/>
                <a:hlinkClick r:id="rId5"/>
              </a:rPr>
              <a:t>https://arxiv.org/abs/2009.01366</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Wong, D. J. N., Harris, S., Sahni, A., Bedford, J. R., Cortes, L., </a:t>
            </a:r>
            <a:r>
              <a:rPr lang="en-US" sz="1200" dirty="0" err="1">
                <a:latin typeface="Times New Roman" panose="02020603050405020304" pitchFamily="18" charset="0"/>
                <a:cs typeface="Times New Roman" panose="02020603050405020304" pitchFamily="18" charset="0"/>
              </a:rPr>
              <a:t>Shawyer</a:t>
            </a:r>
            <a:r>
              <a:rPr lang="en-US" sz="1200" dirty="0">
                <a:latin typeface="Times New Roman" panose="02020603050405020304" pitchFamily="18" charset="0"/>
                <a:cs typeface="Times New Roman" panose="02020603050405020304" pitchFamily="18" charset="0"/>
              </a:rPr>
              <a:t>, R., Wilson, A. M., Lindsay, H. A., Campbell, D., Popham, S., Moonesinghe, S. R. (2020). Developing and validating subjective and objective risk-assessment measures for predicting mortality after major surgery: An international prospective cohort study. PLOS Medicine, 17(10), e1003253. </a:t>
            </a:r>
            <a:r>
              <a:rPr lang="en-US" sz="1200" dirty="0">
                <a:latin typeface="Times New Roman" panose="02020603050405020304" pitchFamily="18" charset="0"/>
                <a:cs typeface="Times New Roman" panose="02020603050405020304" pitchFamily="18" charset="0"/>
                <a:hlinkClick r:id="rId6"/>
              </a:rPr>
              <a:t>https://doi.org/10.1371/journal.pmed.1003253</a:t>
            </a:r>
            <a:endParaRPr lang="en-US" sz="1200" dirty="0">
              <a:latin typeface="Times New Roman" panose="02020603050405020304" pitchFamily="18" charset="0"/>
              <a:cs typeface="Times New Roman" panose="02020603050405020304" pitchFamily="18" charset="0"/>
            </a:endParaRPr>
          </a:p>
          <a:p>
            <a:r>
              <a:rPr lang="en-US" sz="1200" dirty="0" err="1">
                <a:latin typeface="Times New Roman" panose="02020603050405020304" pitchFamily="18" charset="0"/>
                <a:cs typeface="Times New Roman" panose="02020603050405020304" pitchFamily="18" charset="0"/>
              </a:rPr>
              <a:t>Resnic</a:t>
            </a:r>
            <a:r>
              <a:rPr lang="en-US" sz="1200" dirty="0">
                <a:latin typeface="Times New Roman" panose="02020603050405020304" pitchFamily="18" charset="0"/>
                <a:cs typeface="Times New Roman" panose="02020603050405020304" pitchFamily="18" charset="0"/>
              </a:rPr>
              <a:t>, F. S., &amp; Welt, F. G. P. (2009). The public health hazards of risk avoidance associated with public reporting of risk-adjusted outcomes in coronary intervention. Journal of the American College of Cardiology, 53(10), 825-830. </a:t>
            </a:r>
            <a:r>
              <a:rPr lang="en-US" sz="1200" dirty="0">
                <a:latin typeface="Times New Roman" panose="02020603050405020304" pitchFamily="18" charset="0"/>
                <a:cs typeface="Times New Roman" panose="02020603050405020304" pitchFamily="18" charset="0"/>
                <a:hlinkClick r:id="rId7" action="ppaction://hlinksldjump"/>
              </a:rPr>
              <a:t> </a:t>
            </a:r>
            <a:r>
              <a:rPr lang="en-US" sz="1200" dirty="0">
                <a:latin typeface="Times New Roman" panose="02020603050405020304" pitchFamily="18" charset="0"/>
                <a:cs typeface="Times New Roman" panose="02020603050405020304" pitchFamily="18" charset="0"/>
                <a:hlinkClick r:id="rId8"/>
              </a:rPr>
              <a:t>https://doi.org/10.1016/j.jacc.2008.11.034</a:t>
            </a:r>
            <a:endParaRPr lang="en-US" sz="1200" dirty="0">
              <a:latin typeface="Times New Roman" panose="02020603050405020304" pitchFamily="18" charset="0"/>
              <a:cs typeface="Times New Roman" panose="02020603050405020304" pitchFamily="18" charset="0"/>
            </a:endParaRPr>
          </a:p>
          <a:p>
            <a:endParaRPr lang="en-US" sz="1200" dirty="0"/>
          </a:p>
        </p:txBody>
      </p:sp>
    </p:spTree>
    <p:extLst>
      <p:ext uri="{BB962C8B-B14F-4D97-AF65-F5344CB8AC3E}">
        <p14:creationId xmlns:p14="http://schemas.microsoft.com/office/powerpoint/2010/main" val="1335731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581F1E-9213-D39E-ACE1-655B9C0CCEDC}"/>
              </a:ext>
            </a:extLst>
          </p:cNvPr>
          <p:cNvSpPr>
            <a:spLocks noGrp="1"/>
          </p:cNvSpPr>
          <p:nvPr>
            <p:ph idx="1"/>
          </p:nvPr>
        </p:nvSpPr>
        <p:spPr>
          <a:xfrm>
            <a:off x="838200" y="457200"/>
            <a:ext cx="10515600" cy="5719763"/>
          </a:xfrm>
        </p:spPr>
        <p:txBody>
          <a:bodyPr>
            <a:normAutofit/>
          </a:bodyPr>
          <a:lstStyle/>
          <a:p>
            <a:r>
              <a:rPr lang="en-US" sz="1200" dirty="0">
                <a:latin typeface="Times New Roman" panose="02020603050405020304" pitchFamily="18" charset="0"/>
                <a:cs typeface="Times New Roman" panose="02020603050405020304" pitchFamily="18" charset="0"/>
              </a:rPr>
              <a:t>Wong DJN, Harris S, Sahni A, et al. Developing and validating subjective and objective risk-assessment measures for predicting mortality after major surgery: An international prospective cohort study. </a:t>
            </a:r>
            <a:r>
              <a:rPr lang="en-US" sz="1200" dirty="0" err="1">
                <a:latin typeface="Times New Roman" panose="02020603050405020304" pitchFamily="18" charset="0"/>
                <a:cs typeface="Times New Roman" panose="02020603050405020304" pitchFamily="18" charset="0"/>
              </a:rPr>
              <a:t>PLoS</a:t>
            </a:r>
            <a:r>
              <a:rPr lang="en-US" sz="1200" dirty="0">
                <a:latin typeface="Times New Roman" panose="02020603050405020304" pitchFamily="18" charset="0"/>
                <a:cs typeface="Times New Roman" panose="02020603050405020304" pitchFamily="18" charset="0"/>
              </a:rPr>
              <a:t> Med. 2020;17(10):e1003253. </a:t>
            </a:r>
            <a:r>
              <a:rPr lang="en-US" sz="1200" dirty="0">
                <a:latin typeface="Times New Roman" panose="02020603050405020304" pitchFamily="18" charset="0"/>
                <a:cs typeface="Times New Roman" panose="02020603050405020304" pitchFamily="18" charset="0"/>
                <a:hlinkClick r:id="rId2"/>
              </a:rPr>
              <a:t>https://journals.plos.org/plosmedicine/article?id=10.1371/journal.pmed.1003253</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Du, X., Wang, H., Wang, S., He, Y., Zheng, J., Zhang, H., Hao, Z., Chen, Y., Xu, Z., &amp; Lu, Z. (Year). Title of the article. Journal Name, Volume(Issue), Article number.</a:t>
            </a:r>
            <a:r>
              <a:rPr lang="en-US" sz="1200" dirty="0">
                <a:latin typeface="Times New Roman" panose="02020603050405020304" pitchFamily="18" charset="0"/>
                <a:cs typeface="Times New Roman" panose="02020603050405020304" pitchFamily="18" charset="0"/>
                <a:hlinkClick r:id="rId3" action="ppaction://hlinksldjump"/>
              </a:rPr>
              <a:t> </a:t>
            </a:r>
            <a:r>
              <a:rPr lang="en-US" sz="1200" dirty="0">
                <a:latin typeface="Times New Roman" panose="02020603050405020304" pitchFamily="18" charset="0"/>
                <a:cs typeface="Times New Roman" panose="02020603050405020304" pitchFamily="18" charset="0"/>
                <a:hlinkClick r:id="rId4"/>
              </a:rPr>
              <a:t>https://doi.org/10.31083/j.rcm2311376</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Rab, T., &amp; Wilson, H. (2016). On behalf of the Interventional Council and Board of Governors. Division of Cardiology, Department of Medicine, Emory University, Atlanta, Georgia; Carolinas Medical Center, Charlotte, North Carolina. Journal Name (if applicable). Received November 29, 2015; accepted December 3, 2015; available online March 7, 2016. Version of record March 7, 2016. </a:t>
            </a:r>
            <a:r>
              <a:rPr lang="en-US" sz="1200" dirty="0">
                <a:latin typeface="Times New Roman" panose="02020603050405020304" pitchFamily="18" charset="0"/>
                <a:cs typeface="Times New Roman" panose="02020603050405020304" pitchFamily="18" charset="0"/>
                <a:hlinkClick r:id="rId5"/>
              </a:rPr>
              <a:t>https://doi.org/10.1016/j.jcin.2015.12.006</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Yan Sun 1, Bee Hoon Heng, </a:t>
            </a:r>
            <a:r>
              <a:rPr lang="en-US" sz="1200" dirty="0" err="1">
                <a:latin typeface="Times New Roman" panose="02020603050405020304" pitchFamily="18" charset="0"/>
                <a:cs typeface="Times New Roman" panose="02020603050405020304" pitchFamily="18" charset="0"/>
              </a:rPr>
              <a:t>Seow</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Yian</a:t>
            </a:r>
            <a:r>
              <a:rPr lang="en-US" sz="1200" dirty="0">
                <a:latin typeface="Times New Roman" panose="02020603050405020304" pitchFamily="18" charset="0"/>
                <a:cs typeface="Times New Roman" panose="02020603050405020304" pitchFamily="18" charset="0"/>
              </a:rPr>
              <a:t> Tay, </a:t>
            </a:r>
            <a:r>
              <a:rPr lang="en-US" sz="1200" dirty="0" err="1">
                <a:latin typeface="Times New Roman" panose="02020603050405020304" pitchFamily="18" charset="0"/>
                <a:cs typeface="Times New Roman" panose="02020603050405020304" pitchFamily="18" charset="0"/>
              </a:rPr>
              <a:t>Eillyne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Seow</a:t>
            </a:r>
            <a:r>
              <a:rPr lang="en-US" sz="1200" dirty="0">
                <a:latin typeface="Times New Roman" panose="02020603050405020304" pitchFamily="18" charset="0"/>
                <a:cs typeface="Times New Roman" panose="02020603050405020304" pitchFamily="18" charset="0"/>
              </a:rPr>
              <a:t>. Predicting hospital admissions at emergency department triage using routine administrative data.  </a:t>
            </a:r>
            <a:r>
              <a:rPr lang="en-US" sz="1200" dirty="0">
                <a:latin typeface="Times New Roman" panose="02020603050405020304" pitchFamily="18" charset="0"/>
                <a:cs typeface="Times New Roman" panose="02020603050405020304" pitchFamily="18" charset="0"/>
                <a:hlinkClick r:id="rId6"/>
              </a:rPr>
              <a:t>https://pubmed.ncbi.nlm.nih.gov/21843220/</a:t>
            </a:r>
            <a:endParaRPr lang="en-US" sz="1200" dirty="0">
              <a:latin typeface="Times New Roman" panose="02020603050405020304" pitchFamily="18" charset="0"/>
              <a:cs typeface="Times New Roman" panose="02020603050405020304" pitchFamily="18" charset="0"/>
            </a:endParaRPr>
          </a:p>
          <a:p>
            <a:r>
              <a:rPr lang="sv-SE" sz="1200" dirty="0">
                <a:latin typeface="Times New Roman" panose="02020603050405020304" pitchFamily="18" charset="0"/>
                <a:cs typeface="Times New Roman" panose="02020603050405020304" pitchFamily="18" charset="0"/>
              </a:rPr>
              <a:t>Edward L. Hannan, PHD, MS, MS</a:t>
            </a:r>
            <a:r>
              <a:rPr lang="en-US" sz="1200" dirty="0">
                <a:latin typeface="Times New Roman" panose="02020603050405020304" pitchFamily="18" charset="0"/>
                <a:cs typeface="Times New Roman" panose="02020603050405020304" pitchFamily="18" charset="0"/>
              </a:rPr>
              <a:t>The Public Reporting Risk of Performing High-Risk Procedures Perception or Reality? </a:t>
            </a:r>
            <a:r>
              <a:rPr lang="en-US" sz="1200" dirty="0">
                <a:latin typeface="Times New Roman" panose="02020603050405020304" pitchFamily="18" charset="0"/>
                <a:cs typeface="Times New Roman" panose="02020603050405020304" pitchFamily="18" charset="0"/>
                <a:hlinkClick r:id="rId7"/>
              </a:rPr>
              <a:t>https://doi.org/10.1016/j.jcin.2014.08.005</a:t>
            </a:r>
            <a:endParaRPr lang="en-US" sz="1200" dirty="0">
              <a:latin typeface="Times New Roman" panose="02020603050405020304" pitchFamily="18" charset="0"/>
              <a:cs typeface="Times New Roman" panose="02020603050405020304" pitchFamily="18" charset="0"/>
            </a:endParaRPr>
          </a:p>
          <a:p>
            <a:r>
              <a:rPr lang="en-US" sz="1200" dirty="0" err="1">
                <a:latin typeface="Times New Roman" panose="02020603050405020304" pitchFamily="18" charset="0"/>
                <a:cs typeface="Times New Roman" panose="02020603050405020304" pitchFamily="18" charset="0"/>
              </a:rPr>
              <a:t>Nallabasannagaari</a:t>
            </a:r>
            <a:r>
              <a:rPr lang="en-US" sz="1200" dirty="0">
                <a:latin typeface="Times New Roman" panose="02020603050405020304" pitchFamily="18" charset="0"/>
                <a:cs typeface="Times New Roman" panose="02020603050405020304" pitchFamily="18" charset="0"/>
              </a:rPr>
              <a:t>, A. R., </a:t>
            </a:r>
            <a:r>
              <a:rPr lang="en-US" sz="1200" dirty="0" err="1">
                <a:latin typeface="Times New Roman" panose="02020603050405020304" pitchFamily="18" charset="0"/>
                <a:cs typeface="Times New Roman" panose="02020603050405020304" pitchFamily="18" charset="0"/>
              </a:rPr>
              <a:t>Reddiboina</a:t>
            </a:r>
            <a:r>
              <a:rPr lang="en-US" sz="1200" dirty="0">
                <a:latin typeface="Times New Roman" panose="02020603050405020304" pitchFamily="18" charset="0"/>
                <a:cs typeface="Times New Roman" panose="02020603050405020304" pitchFamily="18" charset="0"/>
              </a:rPr>
              <a:t>, M., Seltzer, R., </a:t>
            </a:r>
            <a:r>
              <a:rPr lang="en-US" sz="1200" dirty="0" err="1">
                <a:latin typeface="Times New Roman" panose="02020603050405020304" pitchFamily="18" charset="0"/>
                <a:cs typeface="Times New Roman" panose="02020603050405020304" pitchFamily="18" charset="0"/>
              </a:rPr>
              <a:t>Zeffiro</a:t>
            </a:r>
            <a:r>
              <a:rPr lang="en-US" sz="1200" dirty="0">
                <a:latin typeface="Times New Roman" panose="02020603050405020304" pitchFamily="18" charset="0"/>
                <a:cs typeface="Times New Roman" panose="02020603050405020304" pitchFamily="18" charset="0"/>
              </a:rPr>
              <a:t>, T., Sharma, A., &amp; Bhandari, M. (n.d.). All data inclusive, deep learning models to predict critical events in the Medical Information Mart for Intensive Care III Database (MIMIC III). </a:t>
            </a:r>
            <a:r>
              <a:rPr lang="en-US" sz="1200" dirty="0">
                <a:latin typeface="Times New Roman" panose="02020603050405020304" pitchFamily="18" charset="0"/>
                <a:cs typeface="Times New Roman" panose="02020603050405020304" pitchFamily="18" charset="0"/>
                <a:hlinkClick r:id="rId8"/>
              </a:rPr>
              <a:t>https://arxiv.org/abs/2009.01366</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Brennan, J. M., Curtis, J. P., Dai, D., Fitzgerald, S., Khandelwal, A. K., Spertus, J. A., Rao, S. V., Singh, M., Shaw, R. E., Ho, K. K. L., Krone, R. J., Weintraub, W. S., Weaver, W. D., &amp; Peterson, E. D. (n.d.). Enhanced mortality risk prediction with a focus on high-risk percutaneous coronary intervention: Results from 1,208,137 procedures in the NCDR (National Cardiovascular Data Registry). </a:t>
            </a:r>
            <a:r>
              <a:rPr lang="en-US" sz="1200" dirty="0">
                <a:latin typeface="Times New Roman" panose="02020603050405020304" pitchFamily="18" charset="0"/>
                <a:cs typeface="Times New Roman" panose="02020603050405020304" pitchFamily="18" charset="0"/>
                <a:hlinkClick r:id="rId9"/>
              </a:rPr>
              <a:t>https://doi.org/10.1016/j.jcin.2013.03.020</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p>
        </p:txBody>
      </p:sp>
    </p:spTree>
    <p:extLst>
      <p:ext uri="{BB962C8B-B14F-4D97-AF65-F5344CB8AC3E}">
        <p14:creationId xmlns:p14="http://schemas.microsoft.com/office/powerpoint/2010/main" val="3344073407"/>
      </p:ext>
    </p:extLst>
  </p:cSld>
  <p:clrMapOvr>
    <a:masterClrMapping/>
  </p:clrMapOvr>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Sagona Boo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docProps/app.xml><?xml version="1.0" encoding="utf-8"?>
<Properties xmlns="http://schemas.openxmlformats.org/officeDocument/2006/extended-properties" xmlns:vt="http://schemas.openxmlformats.org/officeDocument/2006/docPropsVTypes">
  <TotalTime>3514</TotalTime>
  <Words>2452</Words>
  <Application>Microsoft Macintosh PowerPoint</Application>
  <PresentationFormat>Widescreen</PresentationFormat>
  <Paragraphs>129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Avenir Next LT Pro</vt:lpstr>
      <vt:lpstr>AvenirNext LT Pro Medium</vt:lpstr>
      <vt:lpstr>Sagona Book</vt:lpstr>
      <vt:lpstr>Times New Roman</vt:lpstr>
      <vt:lpstr>ExploreVTI</vt:lpstr>
      <vt:lpstr>Predictive Modelling in-hospital mortality following with elective surgery</vt:lpstr>
      <vt:lpstr>Abstract</vt:lpstr>
      <vt:lpstr>Problem Statement</vt:lpstr>
      <vt:lpstr>DATASET OVERVIEW</vt:lpstr>
      <vt:lpstr>Literature Review &amp; Introduction</vt:lpstr>
      <vt:lpstr>High Level Architecture</vt:lpstr>
      <vt:lpstr>GNATT CHART TIMELINE</vt:lpstr>
      <vt:lpstr>Exploratory Data Analysis[EDA]</vt:lpstr>
      <vt:lpstr>Visual Insights from EDA</vt:lpstr>
      <vt:lpstr>DATA PREPROCESSING</vt:lpstr>
      <vt:lpstr>Handling Imbalanced Data</vt:lpstr>
      <vt:lpstr>Models Implemented</vt:lpstr>
      <vt:lpstr>Random forest </vt:lpstr>
      <vt:lpstr>XGBOOST CLASSIFIER</vt:lpstr>
      <vt:lpstr>K-NEAREST NEIGHBOUR</vt:lpstr>
      <vt:lpstr>SUPPORT VECTOR MACHINE</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Kottapalli, Ragamai</dc:creator>
  <cp:lastModifiedBy>Kottapalli, Ragamai</cp:lastModifiedBy>
  <cp:revision>3</cp:revision>
  <dcterms:created xsi:type="dcterms:W3CDTF">2025-04-08T16:28:48Z</dcterms:created>
  <dcterms:modified xsi:type="dcterms:W3CDTF">2025-04-11T16:38:12Z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2025-04-09T04:58:45Z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350c54e6-0497-4fff-b117-17d8181c8aac</vt:lpwstr>
  </property>
  <property fmtid="{D5CDD505-2E9C-101B-9397-08002B2CF9AE}" pid="7" name="MSIP_Label_defa4170-0d19-0005-0004-bc88714345d2_ActionId">
    <vt:lpwstr>bb2e7fda-23ee-4488-8335-3c5f6d333417</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